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6" r:id="rId2"/>
    <p:sldId id="277" r:id="rId3"/>
    <p:sldId id="267" r:id="rId4"/>
    <p:sldId id="268" r:id="rId5"/>
    <p:sldId id="259" r:id="rId6"/>
    <p:sldId id="269" r:id="rId7"/>
    <p:sldId id="273" r:id="rId8"/>
    <p:sldId id="270" r:id="rId9"/>
    <p:sldId id="272" r:id="rId10"/>
    <p:sldId id="284" r:id="rId11"/>
    <p:sldId id="283" r:id="rId12"/>
    <p:sldId id="279" r:id="rId13"/>
    <p:sldId id="278" r:id="rId14"/>
    <p:sldId id="281" r:id="rId15"/>
    <p:sldId id="280" r:id="rId16"/>
    <p:sldId id="282" r:id="rId17"/>
    <p:sldId id="285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to Microsoft" initials="KM" lastIdx="3" clrIdx="0">
    <p:extLst>
      <p:ext uri="{19B8F6BF-5375-455C-9EA6-DF929625EA0E}">
        <p15:presenceInfo xmlns:p15="http://schemas.microsoft.com/office/powerpoint/2012/main" userId="c842398ad735e493" providerId="Windows Live"/>
      </p:ext>
    </p:extLst>
  </p:cmAuthor>
  <p:cmAuthor id="2" name="Jan Frąckowiak" initials="JF" lastIdx="2" clrIdx="1">
    <p:extLst>
      <p:ext uri="{19B8F6BF-5375-455C-9EA6-DF929625EA0E}">
        <p15:presenceInfo xmlns:p15="http://schemas.microsoft.com/office/powerpoint/2012/main" userId="70341bd9afb202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3F3"/>
    <a:srgbClr val="8FCBDD"/>
    <a:srgbClr val="89C8DB"/>
    <a:srgbClr val="C05250"/>
    <a:srgbClr val="FDF5F2"/>
    <a:srgbClr val="DDA831"/>
    <a:srgbClr val="62ADC4"/>
    <a:srgbClr val="69A8A1"/>
    <a:srgbClr val="3A726A"/>
    <a:srgbClr val="F9C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1"/>
    <p:restoredTop sz="85911"/>
  </p:normalViewPr>
  <p:slideViewPr>
    <p:cSldViewPr snapToGrid="0" snapToObjects="1">
      <p:cViewPr>
        <p:scale>
          <a:sx n="125" d="100"/>
          <a:sy n="125" d="100"/>
        </p:scale>
        <p:origin x="1624" y="5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-20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20:47:29.437" idx="1">
    <p:pos x="2164" y="1539"/>
    <p:text>czy tu możesz omówić krótko kilka konkretnych przykładów?</p:text>
    <p:extLst>
      <p:ext uri="{C676402C-5697-4E1C-873F-D02D1690AC5C}">
        <p15:threadingInfo xmlns:p15="http://schemas.microsoft.com/office/powerpoint/2012/main" timeZoneBias="-60"/>
      </p:ext>
    </p:extLst>
  </p:cm>
  <p:cm authorId="1" dt="2026-03-10T20:48:01.588" idx="2">
    <p:pos x="5053" y="1999"/>
    <p:text>możesz powiedzieć więcej o tych KGs?</p:text>
    <p:extLst>
      <p:ext uri="{C676402C-5697-4E1C-873F-D02D1690AC5C}">
        <p15:threadingInfo xmlns:p15="http://schemas.microsoft.com/office/powerpoint/2012/main" timeZoneBias="-60"/>
      </p:ext>
    </p:extLst>
  </p:cm>
  <p:cm authorId="2" dt="2026-03-13T14:50:19.710" idx="2">
    <p:pos x="5053" y="2095"/>
    <p:text>Zmieniłem układ slajdów teraz "Structure of representation będzie pierwsze)</p:text>
    <p:extLst>
      <p:ext uri="{C676402C-5697-4E1C-873F-D02D1690AC5C}">
        <p15:threadingInfo xmlns:p15="http://schemas.microsoft.com/office/powerpoint/2012/main" timeZoneBias="-60">
          <p15:parentCm authorId="1" idx="2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0T21:03:08.639" idx="3">
    <p:pos x="3137" y="2004"/>
    <p:text>na potrzeby seminarium opowiedziałbm bardziej szczegółowo o źródłach danych, na jakich bazujesz, oraz o konkretnym tasku predykcyjnym, na podstawie którego oceniasz jaokśc uzyskanej reprezentacji, metrykach, etc</p:text>
    <p:extLst>
      <p:ext uri="{C676402C-5697-4E1C-873F-D02D1690AC5C}">
        <p15:threadingInfo xmlns:p15="http://schemas.microsoft.com/office/powerpoint/2012/main" timeZoneBias="-6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2T14:25:12.41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53,'48'0,"-3"0,-11 0,-2 0,-2 0,-6 0,-4 0,-1 0,-2 0,0 0,-2 0,-4 0,-2 0,4-1,-3-1,8 1,2-1,1 2,0 0,-4 0,-7 0,-1 0,5 0,-2 0,8 0,1 0,2 0,1 0,0 0,-3 0,-3 0,-4 0,-4 0,-1 0,9 0,1 0,12 0,-5 0,-1 0,-4 0,-4 0,-2 0,-3 0,1 0,-1 0,3 0,0 0,3 0,3 0,-3 0,0 0,-3 0,-4 0,-1 0,1 0,0 0,4 0,3 0,0 0,0 0,-2 0,1 0,4 0,0 0,-3 0,-2 0,-3 0,0 0,-1 0,1 0,-1 0,1 0,-1-2,1 1,2-1,0-1,1 1,-2 1,-2 0,-1 1,0 0,-2 0,3 0,-1 0,2 0,-1 0,1 0,-1 0,1 0,-2-1,0 0,-1 0,0-1,3 2,-3 0,2 0,-1 0,3 0,3 0,1 0,1 0,-2 0,-2 0,2 0,-1 0,-2 0,-1 0,-2 0,0 0,1 0,3 0,0 0,1 0,-2 0,-1 0,-1 0,1 0,2 0,0 0,1 0,-2 0,-3 0,-2 0,4 0,-1 0,8 0,-1 0,2-2,-1 1,-3-1,-3 1,-3 1,0 0,-1 0,0 0,1-2,-1 1,0-1,1 2,-2 0,2 0,2 0,-3 0,3 0,-3 0,0 0,1 0,3-3,-5 2,3-3,-2 3,-1-1,7-2,-6 3,3-1,1 1,-4 1,9 0,-4 0,0 0,-3 0,-2 0,1 0,0 0,2 0,-2 0,1 0,0 0,1 0,-1 0,1 0,-2 0,-2 0,2 0,-1 0,0 0,5 0,-3 0,4 0,-5 0,0 0,-1 0,1 0,4 0,0 2,1-1,-1 1,-3-1,1-1,-2 2,0 0,-1-1,1 1,2-2,-1 0,3 0,1 1,-1 1,0-1,-2 2,-1-1,2-1,1 1,1-2,-1 1,-1 1,-2 0,1-1,-1-1,1 0,-1 0,1 0,-2 0,0 0,0 0,-1 0,3 0,-2 0,1 0,-1 0,-2 0,5 0,3 0,4 0,2 2,-1 0,-4 0,-4 0,-1-2,2 0,0 0,3 0,0 0,-3 0,-3 0,-4 0,3 0,0 0,7 0,2 0,1 0,-2 0,-4 0,-5 0,0 0,-1 0,2 0,1 0,-3 0,3 0,-3-1,2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12T14:25:25.1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53,'48'0,"-3"0,-11 0,-2 0,-2 0,-6 0,-4 0,-1 0,-2 0,0 0,-2 0,-4 0,-2 0,4-1,-3-1,8 1,2-1,1 2,0 0,-4 0,-7 0,-1 0,5 0,-2 0,8 0,1 0,2 0,1 0,0 0,-3 0,-3 0,-4 0,-4 0,-1 0,9 0,1 0,12 0,-5 0,-1 0,-4 0,-4 0,-2 0,-3 0,1 0,-1 0,3 0,0 0,3 0,3 0,-3 0,0 0,-3 0,-4 0,-1 0,1 0,0 0,4 0,3 0,0 0,0 0,-2 0,1 0,4 0,0 0,-3 0,-2 0,-3 0,0 0,-1 0,1 0,-1 0,1 0,-1-2,1 1,2-1,0-1,1 1,-2 1,-2 0,-1 1,0 0,-2 0,3 0,-1 0,2 0,-1 0,1 0,-1 0,1 0,-2-1,0 0,-1 0,0-1,3 2,-3 0,2 0,-1 0,3 0,3 0,1 0,1 0,-2 0,-2 0,2 0,-1 0,-2 0,-1 0,-2 0,0 0,1 0,3 0,0 0,1 0,-2 0,-1 0,-1 0,1 0,2 0,0 0,1 0,-2 0,-3 0,-2 0,4 0,-1 0,8 0,-1 0,2-2,-1 1,-3-1,-3 1,-3 1,0 0,-1 0,0 0,1-2,-1 1,0-1,1 2,-2 0,2 0,2 0,-3 0,3 0,-3 0,0 0,1 0,3-3,-5 2,3-3,-2 3,-1-1,7-2,-6 3,3-1,1 1,-4 1,9 0,-4 0,0 0,-3 0,-2 0,1 0,0 0,2 0,-2 0,1 0,0 0,1 0,-1 0,1 0,-2 0,-2 0,2 0,-1 0,0 0,5 0,-3 0,4 0,-5 0,0 0,-1 0,1 0,4 0,0 2,1-1,-1 1,-3-1,1-1,-2 2,0 0,-1-1,1 1,2-2,-1 0,3 0,1 1,-1 1,0-1,-2 2,-1-1,2-1,1 1,1-2,-1 1,-1 1,-2 0,1-1,-1-1,1 0,-1 0,1 0,-2 0,0 0,0 0,-1 0,3 0,-2 0,1 0,-1 0,-2 0,5 0,3 0,4 0,2 2,-1 0,-4 0,-4 0,-1-2,2 0,0 0,3 0,0 0,-3 0,-3 0,-4 0,3 0,0 0,7 0,2 0,1 0,-2 0,-4 0,-5 0,0 0,-1 0,2 0,1 0,-3 0,3 0,-3-1,2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A65BC-9753-9A4E-BA44-CC871B90901E}" type="datetimeFigureOut">
              <a:rPr lang="en-PL" smtClean="0"/>
              <a:t>12/04/2026</a:t>
            </a:fld>
            <a:endParaRPr lang="en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E3CD5-AD51-DB46-954C-4DC3DBC782E7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196005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L" dirty="0"/>
              <a:t>I hope after todays presentation you will be at least half as interested about KGs as I am. </a:t>
            </a:r>
            <a:r>
              <a:rPr lang="en-GB" dirty="0"/>
              <a:t>Maybe you will be even able to think of example use case for them in your domain.</a:t>
            </a:r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534055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will walk you through an example of a task involving knowledge graphs, then gradually move to the current state of research, which serves as my starting point, and finally present my idea.</a:t>
            </a:r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2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77964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Let’s make this concrete with a simple example.</a:t>
            </a:r>
            <a:br>
              <a:rPr lang="en-GB" dirty="0"/>
            </a:br>
            <a:r>
              <a:rPr lang="en-GB" dirty="0"/>
              <a:t>Imagine we have a history textbook—say, on Polish or European history.</a:t>
            </a:r>
          </a:p>
          <a:p>
            <a:endParaRPr lang="en-GB" dirty="0"/>
          </a:p>
          <a:p>
            <a:r>
              <a:rPr lang="en-GB" dirty="0"/>
              <a:t>Now suppose we’re interested in military conflicts and we want to predict the outcome of the next one—will it be a victory or a defeat?—based on relevant information from the text.</a:t>
            </a:r>
          </a:p>
          <a:p>
            <a:r>
              <a:rPr lang="en-GB" dirty="0"/>
              <a:t>What would you look at? Any thoughts?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233812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Michał, our historian, could probably point out all the flaws in our answers — but they all share one idea: representation.</a:t>
            </a:r>
          </a:p>
          <a:p>
            <a:endParaRPr lang="en-GB" dirty="0"/>
          </a:p>
          <a:p>
            <a:r>
              <a:rPr lang="en-GB" dirty="0"/>
              <a:t>The better we identify relevant entities and relationships, the better our predictions become and the fewer errors we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4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70686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Formally, what we discussed on the previous slide is called a knowledge graph.</a:t>
            </a:r>
          </a:p>
          <a:p>
            <a:endParaRPr lang="en-GB" dirty="0"/>
          </a:p>
          <a:p>
            <a:r>
              <a:rPr lang="en-GB" dirty="0"/>
              <a:t>A knowledge graph is a deceptively simple structure: it consists of entities—for example, political actors, economic factors, or events—and the relationships between them.</a:t>
            </a:r>
          </a:p>
          <a:p>
            <a:endParaRPr lang="en-GB" dirty="0"/>
          </a:p>
          <a:p>
            <a:r>
              <a:rPr lang="en-GB" dirty="0"/>
              <a:t>For instance, the price of a strategic resource may depend on an economic event, or one country may impose sanctions on another. These are all relationships captured in the graph.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selection of entities and relationships shapes the geometry of the graph, and the other name for this selection is ontology. (I am sure the term rings a bell for </a:t>
            </a:r>
            <a:r>
              <a:rPr lang="en-GB" dirty="0" err="1"/>
              <a:t>philosphers</a:t>
            </a:r>
            <a:r>
              <a:rPr lang="en-GB" dirty="0"/>
              <a:t>)</a:t>
            </a:r>
          </a:p>
          <a:p>
            <a:r>
              <a:rPr lang="en-GB" dirty="0"/>
              <a:t>A well-designed ontology is therefore critical for strong task performance.</a:t>
            </a:r>
          </a:p>
          <a:p>
            <a:br>
              <a:rPr lang="en-GB" dirty="0"/>
            </a:br>
            <a:endParaRPr lang="en-GB" dirty="0"/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5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496063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think we can already see that knowledge graphs are very versatile structures</a:t>
            </a:r>
          </a:p>
          <a:p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But I want to argue that they also play an important role in the evolution of AI systems.</a:t>
            </a:r>
          </a:p>
          <a:p>
            <a:endParaRPr lang="en-GB" dirty="0"/>
          </a:p>
          <a:p>
            <a:r>
              <a:rPr lang="en-GB" dirty="0"/>
              <a:t>If you follow recent AI developments, you’ve probably seen the progression: first LLMs, then AI agents—systems that use LLMs to solve specific tasks.</a:t>
            </a:r>
          </a:p>
          <a:p>
            <a:endParaRPr lang="en-GB" dirty="0"/>
          </a:p>
          <a:p>
            <a:r>
              <a:rPr lang="en-GB" dirty="0"/>
              <a:t>Now, the focus is shifting toward specialization and tooling—making these systems more effective by giving them structure and memory.</a:t>
            </a:r>
          </a:p>
          <a:p>
            <a:endParaRPr lang="en-GB" dirty="0"/>
          </a:p>
          <a:p>
            <a:r>
              <a:rPr lang="en-GB" dirty="0"/>
              <a:t>This is where knowledge graphs come in. They act as structured memory for LLM-based systems, organizing information in a way that makes it usable.</a:t>
            </a:r>
          </a:p>
          <a:p>
            <a:endParaRPr lang="en-GB" dirty="0"/>
          </a:p>
          <a:p>
            <a:r>
              <a:rPr lang="en-GB" dirty="0"/>
              <a:t>Knowledge graphs are already used in many tasks: question answering, prediction, and network analysis.</a:t>
            </a:r>
          </a:p>
          <a:p>
            <a:endParaRPr lang="en-GB" dirty="0"/>
          </a:p>
          <a:p>
            <a:r>
              <a:rPr lang="en-GB" dirty="0"/>
              <a:t>However, current approaches are quite limited.</a:t>
            </a:r>
          </a:p>
          <a:p>
            <a:br>
              <a:rPr lang="en-GB" dirty="0"/>
            </a:br>
            <a:r>
              <a:rPr lang="en-GB" dirty="0"/>
              <a:t>Most frameworks for knowledge graph construction are static—the structure is defined once and does not adapt.</a:t>
            </a:r>
          </a:p>
          <a:p>
            <a:br>
              <a:rPr lang="en-GB" dirty="0"/>
            </a:br>
            <a:r>
              <a:rPr lang="en-GB" dirty="0"/>
              <a:t>At the same time, knowledge graphs are typically evaluated structurally (e.g. connectivity or size), rather than based on performance in a specific task.</a:t>
            </a:r>
          </a:p>
          <a:p>
            <a:endParaRPr lang="en-GB" dirty="0"/>
          </a:p>
          <a:p>
            <a:r>
              <a:rPr lang="en-GB" dirty="0"/>
              <a:t>This leads to a key question:</a:t>
            </a:r>
          </a:p>
          <a:p>
            <a:br>
              <a:rPr lang="en-GB" dirty="0"/>
            </a:br>
            <a:r>
              <a:rPr lang="en-GB" dirty="0"/>
              <a:t>Can we treat knowledge graphs as dynamic, evolving structures and optimize their design for a specific 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6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139209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answer this question, I first looked at the existing research in the field.</a:t>
            </a:r>
          </a:p>
          <a:p>
            <a:endParaRPr lang="en-GB" dirty="0"/>
          </a:p>
          <a:p>
            <a:r>
              <a:rPr lang="en-GB" dirty="0"/>
              <a:t>As mentioned earlier, there are well-established frameworks for structural evaluation of knowledge graphs.</a:t>
            </a:r>
            <a:br>
              <a:rPr lang="en-GB" dirty="0"/>
            </a:br>
            <a:r>
              <a:rPr lang="en-GB" dirty="0"/>
              <a:t>More recently, task-focused evaluation frameworks have also emerged.</a:t>
            </a:r>
          </a:p>
          <a:p>
            <a:r>
              <a:rPr lang="en-GB" dirty="0"/>
              <a:t>Some work has started to move closer to my idea.</a:t>
            </a:r>
          </a:p>
          <a:p>
            <a:br>
              <a:rPr lang="en-GB" dirty="0"/>
            </a:br>
            <a:r>
              <a:rPr lang="en-GB" dirty="0"/>
              <a:t>For example, Kovács et al. propose competency-question-driven construction, where the graph is guided by the questions.</a:t>
            </a:r>
            <a:br>
              <a:rPr lang="en-GB" dirty="0"/>
            </a:br>
            <a:r>
              <a:rPr lang="en-GB" dirty="0"/>
              <a:t>There are also approaches that use reinforcement learning to fine tune LLM extractor with respect to a task-specific reward.</a:t>
            </a:r>
          </a:p>
          <a:p>
            <a:r>
              <a:rPr lang="en-GB" dirty="0"/>
              <a:t>However, these methods still do not fundamentally tamper with ontology.</a:t>
            </a:r>
          </a:p>
          <a:p>
            <a:br>
              <a:rPr lang="en-GB" dirty="0"/>
            </a:br>
            <a:r>
              <a:rPr lang="en-GB" dirty="0"/>
              <a:t>They either guide construction without truly adapting the structure, or they rely on complex optimization setups.</a:t>
            </a:r>
          </a:p>
          <a:p>
            <a:r>
              <a:rPr lang="en-GB" b="1" dirty="0"/>
              <a:t>What I did not find is a lightweight, iterative, error-driven approach to adapting the ontology itself.</a:t>
            </a:r>
          </a:p>
          <a:p>
            <a:endParaRPr lang="en-GB" b="1" dirty="0"/>
          </a:p>
          <a:p>
            <a:r>
              <a:rPr lang="en-GB" dirty="0"/>
              <a:t>And this gap is exactly what motivated my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7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859478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My idea is to treat the ontology as a target of optimization and extract as much value from it as possible.</a:t>
            </a:r>
          </a:p>
          <a:p>
            <a:endParaRPr lang="en-GB" dirty="0"/>
          </a:p>
          <a:p>
            <a:r>
              <a:rPr lang="en-GB" dirty="0"/>
              <a:t>I generate multiple variants of the knowledge graph, evaluate them using a specific downstream metric, and then use these results to iteratively refine the construction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8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917853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can see this idea applied in practice—this is my first use case, combining computer science with economics.</a:t>
            </a:r>
          </a:p>
          <a:p>
            <a:endParaRPr lang="en-GB" dirty="0"/>
          </a:p>
          <a:p>
            <a:r>
              <a:rPr lang="en-GB" dirty="0"/>
              <a:t>The goal is to represent a stream of financial news related to S&amp;P 500 companies as a temporal knowledge graph, and use it to predict the direction of price movements.</a:t>
            </a:r>
          </a:p>
          <a:p>
            <a:endParaRPr lang="en-GB" dirty="0"/>
          </a:p>
          <a:p>
            <a:r>
              <a:rPr lang="en-GB" dirty="0"/>
              <a:t>The system has two main components: knowledge graph construction and evaluation.</a:t>
            </a:r>
          </a:p>
          <a:p>
            <a:endParaRPr lang="en-GB" dirty="0"/>
          </a:p>
          <a:p>
            <a:r>
              <a:rPr lang="en-GB" dirty="0"/>
              <a:t>The construction process is handled by two agents:</a:t>
            </a:r>
            <a:br>
              <a:rPr lang="en-GB" dirty="0"/>
            </a:br>
            <a:r>
              <a:rPr lang="en-GB" dirty="0"/>
              <a:t>an ontology agent, which proposes candidate ontologies, and a graph builder, which processes the text and constructs the graph.</a:t>
            </a:r>
          </a:p>
          <a:p>
            <a:endParaRPr lang="en-GB" dirty="0"/>
          </a:p>
          <a:p>
            <a:r>
              <a:rPr lang="en-GB" dirty="0"/>
              <a:t>The evaluation step is more involved.</a:t>
            </a:r>
            <a:br>
              <a:rPr lang="en-GB" dirty="0"/>
            </a:br>
            <a:r>
              <a:rPr lang="en-GB" dirty="0"/>
              <a:t>Each day of market activity is represented as a subgraph, which is then transformed into a numerical representation (embeddings) and fed into a classification model.</a:t>
            </a:r>
          </a:p>
          <a:p>
            <a:endParaRPr lang="en-GB" dirty="0"/>
          </a:p>
          <a:p>
            <a:r>
              <a:rPr lang="en-GB" dirty="0"/>
              <a:t>Finally, the evaluation results are fed back into the construction process—better-performing candidates are retained, while weaker ones are discarded.</a:t>
            </a:r>
          </a:p>
          <a:p>
            <a:r>
              <a:rPr lang="en-GB" dirty="0"/>
              <a:t>This creates a closed loop of iterative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9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757336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D5F7-3E14-5C41-7A3C-4166FA44C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A3E77-3F7B-A4EE-BD53-DBB0604DD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4081E-804E-EBA7-904B-2EF1F4803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can see this idea applied in practice—this is my first use case, combining computer science with economics.</a:t>
            </a:r>
          </a:p>
          <a:p>
            <a:endParaRPr lang="en-GB" dirty="0"/>
          </a:p>
          <a:p>
            <a:r>
              <a:rPr lang="en-GB" dirty="0"/>
              <a:t>The goal is to represent a stream of financial news related to S&amp;P 500 companies as a temporal knowledge graph, and use it to predict the direction of price movements.</a:t>
            </a:r>
          </a:p>
          <a:p>
            <a:endParaRPr lang="en-GB" dirty="0"/>
          </a:p>
          <a:p>
            <a:r>
              <a:rPr lang="en-GB" dirty="0"/>
              <a:t>The system has two main components: knowledge graph construction and evaluation.</a:t>
            </a:r>
          </a:p>
          <a:p>
            <a:endParaRPr lang="en-GB" dirty="0"/>
          </a:p>
          <a:p>
            <a:r>
              <a:rPr lang="en-GB" dirty="0"/>
              <a:t>The construction process is handled by two agents:</a:t>
            </a:r>
            <a:br>
              <a:rPr lang="en-GB" dirty="0"/>
            </a:br>
            <a:r>
              <a:rPr lang="en-GB" dirty="0"/>
              <a:t>an ontology agent, which proposes candidate ontologies, and a graph builder, which processes the text and constructs the graph.</a:t>
            </a:r>
          </a:p>
          <a:p>
            <a:endParaRPr lang="en-GB" dirty="0"/>
          </a:p>
          <a:p>
            <a:r>
              <a:rPr lang="en-GB" dirty="0"/>
              <a:t>The evaluation step is more involved.</a:t>
            </a:r>
            <a:br>
              <a:rPr lang="en-GB" dirty="0"/>
            </a:br>
            <a:r>
              <a:rPr lang="en-GB" dirty="0"/>
              <a:t>Each day of market activity is represented as a subgraph, which is then transformed into a numerical representation (embeddings) and fed into a classification model.</a:t>
            </a:r>
          </a:p>
          <a:p>
            <a:endParaRPr lang="en-GB" dirty="0"/>
          </a:p>
          <a:p>
            <a:r>
              <a:rPr lang="en-GB" dirty="0"/>
              <a:t>Finally, the evaluation results are fed back into the construction process—better-performing candidates are retained, while weaker ones are discarded.</a:t>
            </a:r>
          </a:p>
          <a:p>
            <a:r>
              <a:rPr lang="en-GB" dirty="0"/>
              <a:t>This creates a closed loop of iterative improvement.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729E6-A9D6-215B-6624-E7DB80DBE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10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6045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L" dirty="0"/>
              <a:t>Now that we now what we are talking about I can describe more to reaserch questions there are three most imporatant.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11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207781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have already developed a working prototype and am now moving to a cloud environment to conduct larger-scale experiments.</a:t>
            </a:r>
          </a:p>
          <a:p>
            <a:r>
              <a:rPr lang="en-GB" dirty="0"/>
              <a:t>The initial results are promising with respect to the stated hypotheses.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12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48021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an example run of the system. There are several parameters, but I will briefly explain the most important ones.</a:t>
            </a:r>
          </a:p>
          <a:p>
            <a:endParaRPr lang="en-GB" dirty="0"/>
          </a:p>
          <a:p>
            <a:r>
              <a:rPr lang="en-GB" dirty="0"/>
              <a:t>We can specify the number of graph evolution steps, as well as how many candidate graphs are evaluated at each step.</a:t>
            </a:r>
            <a:br>
              <a:rPr lang="en-GB" dirty="0"/>
            </a:br>
            <a:r>
              <a:rPr lang="en-GB" dirty="0"/>
              <a:t>There are also constraints on the graph representation and the embeddings used during evaluation.</a:t>
            </a:r>
          </a:p>
          <a:p>
            <a:r>
              <a:rPr lang="en-GB" dirty="0"/>
              <a:t>Below, you can see the results for this configuration.</a:t>
            </a:r>
          </a:p>
          <a:p>
            <a:br>
              <a:rPr lang="en-GB" dirty="0"/>
            </a:br>
            <a:r>
              <a:rPr lang="en-GB" dirty="0"/>
              <a:t>The AUC score does not reach very high values, but what is important is the consistent improvement in predictive accuracy across iterations.</a:t>
            </a:r>
          </a:p>
          <a:p>
            <a:r>
              <a:rPr lang="en-GB" dirty="0"/>
              <a:t>This gradual increase is exactly the </a:t>
            </a:r>
            <a:r>
              <a:rPr lang="en-GB" dirty="0" err="1"/>
              <a:t>behavior</a:t>
            </a:r>
            <a:r>
              <a:rPr lang="en-GB" dirty="0"/>
              <a:t> we are aiming for.</a:t>
            </a:r>
          </a:p>
          <a:p>
            <a:br>
              <a:rPr lang="en-GB" dirty="0"/>
            </a:br>
            <a:r>
              <a:rPr lang="en-GB" dirty="0"/>
              <a:t>I am constrained to local machine today</a:t>
            </a:r>
          </a:p>
          <a:p>
            <a:r>
              <a:rPr lang="en-GB" dirty="0"/>
              <a:t>I had the urge to misrepresent it and show a story of gradual increase but I think it is better to just show that…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815744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can see something visually intuitive.</a:t>
            </a:r>
          </a:p>
          <a:p>
            <a:br>
              <a:rPr lang="en-GB" dirty="0"/>
            </a:br>
            <a:r>
              <a:rPr lang="en-GB" dirty="0"/>
              <a:t>This is the graph produced by the run I showed earlier.</a:t>
            </a:r>
          </a:p>
          <a:p>
            <a:endParaRPr lang="en-GB" dirty="0"/>
          </a:p>
          <a:p>
            <a:r>
              <a:rPr lang="en-GB" dirty="0"/>
              <a:t>As the process evolves, the number of nodes increases at each stage, indicating that the ontology itself is being expanded and refined.</a:t>
            </a:r>
          </a:p>
          <a:p>
            <a:endParaRPr lang="en-GB" dirty="0"/>
          </a:p>
          <a:p>
            <a:r>
              <a:rPr lang="en-GB" dirty="0"/>
              <a:t>WE can also see one </a:t>
            </a:r>
            <a:r>
              <a:rPr lang="en-GB" dirty="0" err="1"/>
              <a:t>imporatnat</a:t>
            </a:r>
            <a:r>
              <a:rPr lang="en-GB" dirty="0"/>
              <a:t> trait of this system: connections emerging </a:t>
            </a:r>
            <a:r>
              <a:rPr lang="en-GB" dirty="0" err="1"/>
              <a:t>inbetween</a:t>
            </a:r>
            <a:r>
              <a:rPr lang="en-GB" dirty="0"/>
              <a:t> entities mentioned in different articles.</a:t>
            </a:r>
          </a:p>
          <a:p>
            <a:endParaRPr lang="en-GB" dirty="0"/>
          </a:p>
          <a:p>
            <a:r>
              <a:rPr lang="en-GB" dirty="0"/>
              <a:t>(</a:t>
            </a:r>
            <a:r>
              <a:rPr lang="en-GB" dirty="0" err="1"/>
              <a:t>Wejść</a:t>
            </a:r>
            <a:r>
              <a:rPr lang="en-GB" dirty="0"/>
              <a:t> do </a:t>
            </a:r>
            <a:r>
              <a:rPr lang="en-GB" dirty="0" err="1"/>
              <a:t>interfejsu</a:t>
            </a:r>
            <a:r>
              <a:rPr lang="en-GB" dirty="0"/>
              <a:t> I </a:t>
            </a:r>
            <a:r>
              <a:rPr lang="en-GB" dirty="0" err="1"/>
              <a:t>tak</a:t>
            </a:r>
            <a:r>
              <a:rPr lang="en-GB" dirty="0"/>
              <a:t> </a:t>
            </a:r>
            <a:r>
              <a:rPr lang="en-GB" dirty="0" err="1"/>
              <a:t>pokazać</a:t>
            </a:r>
            <a:r>
              <a:rPr lang="en-GB" dirty="0"/>
              <a:t> to)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14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40727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can see the </a:t>
            </a:r>
            <a:r>
              <a:rPr lang="en-GB" dirty="0" err="1"/>
              <a:t>neighborhood</a:t>
            </a:r>
            <a:r>
              <a:rPr lang="en-GB" dirty="0"/>
              <a:t> of an example news article—everything within two hops.</a:t>
            </a:r>
          </a:p>
          <a:p>
            <a:endParaRPr lang="en-GB" dirty="0"/>
          </a:p>
          <a:p>
            <a:r>
              <a:rPr lang="en-GB" dirty="0"/>
              <a:t>This highly connected node represents a company.</a:t>
            </a:r>
          </a:p>
          <a:p>
            <a:br>
              <a:rPr lang="en-GB" dirty="0"/>
            </a:br>
            <a:r>
              <a:rPr lang="en-GB" dirty="0"/>
              <a:t>Would you like to guess which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15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99814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see the same </a:t>
            </a:r>
            <a:r>
              <a:rPr lang="en-GB" dirty="0" err="1"/>
              <a:t>neighborhood</a:t>
            </a:r>
            <a:r>
              <a:rPr lang="en-GB" dirty="0"/>
              <a:t>, now represented as paths.</a:t>
            </a:r>
          </a:p>
          <a:p>
            <a:endParaRPr lang="en-GB" dirty="0"/>
          </a:p>
          <a:p>
            <a:r>
              <a:rPr lang="en-GB" dirty="0"/>
              <a:t>Path extraction is important for representing local graph structure and serves as a foundation for further processing.</a:t>
            </a:r>
          </a:p>
          <a:p>
            <a:br>
              <a:rPr lang="en-GB" dirty="0"/>
            </a:br>
            <a:r>
              <a:rPr lang="en-GB" dirty="0"/>
              <a:t>It also enables the transformation of graph data into textual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16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836721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F5FAA-D251-6992-FE55-68710296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31A55-5F79-C214-6ED1-CDA37D89B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D1290-AA57-C4CB-A17C-01C0D804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Increasing diversity of paths 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Explainability; how to track down the reason for performance improvement/degradation (reducing feedback loop to 1 entity per iteration?)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Implementing test split? (tricky in this scenario)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Scaling idea to cloud env with more data and </a:t>
            </a:r>
            <a:r>
              <a:rPr lang="en-GB" sz="2400" dirty="0"/>
              <a:t>more </a:t>
            </a:r>
            <a:r>
              <a:rPr lang="en-GB" sz="2400" dirty="0" err="1"/>
              <a:t>hparams</a:t>
            </a:r>
            <a:r>
              <a:rPr lang="en-GB" sz="2400" dirty="0"/>
              <a:t> tested</a:t>
            </a:r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min_count</a:t>
            </a:r>
            <a:endParaRPr lang="en-GB" sz="20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max_count</a:t>
            </a:r>
            <a:endParaRPr lang="en-GB" sz="20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lookback_days</a:t>
            </a:r>
            <a:endParaRPr lang="en-GB" sz="20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Connecting with </a:t>
            </a:r>
            <a:r>
              <a:rPr lang="en-GB" sz="2400" dirty="0" err="1"/>
              <a:t>KGrEaT</a:t>
            </a:r>
            <a:r>
              <a:rPr lang="en-GB" sz="2400" dirty="0"/>
              <a:t>?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4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15884-4B52-BBDE-CF4E-9282319D0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17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238289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conclude, I expect several contributions from this project.</a:t>
            </a:r>
          </a:p>
          <a:p>
            <a:endParaRPr lang="en-GB" dirty="0"/>
          </a:p>
          <a:p>
            <a:r>
              <a:rPr lang="en-GB" dirty="0"/>
              <a:t>First, I am developing a unified library for adaptive, LLM-based knowledge graph construction, enabling ontology optimization.</a:t>
            </a:r>
          </a:p>
          <a:p>
            <a:endParaRPr lang="en-GB" dirty="0"/>
          </a:p>
          <a:p>
            <a:r>
              <a:rPr lang="en-GB" dirty="0"/>
              <a:t>I also plan to produce a couple research articles exploring applications of this framework not only in finance but also in drug discovery and pharmacovigilance (</a:t>
            </a:r>
            <a:r>
              <a:rPr lang="en-P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Adverse Drug Reaction severity (ADR) Classification)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Maybe connect with </a:t>
            </a:r>
            <a:r>
              <a:rPr lang="en-GB" dirty="0" err="1"/>
              <a:t>KGrEaT</a:t>
            </a:r>
            <a:r>
              <a:rPr lang="en-GB" dirty="0"/>
              <a:t>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18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381698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E3CD5-AD51-DB46-954C-4DC3DBC782E7}" type="slidenum">
              <a:rPr lang="en-PL" smtClean="0"/>
              <a:t>19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1542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0FC7B-21D9-3AEC-99D4-ECC40547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7F71DBB-CE6C-F110-35AA-EE65F41D1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6BD97926-17A0-75ED-7C7D-C7882580F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7581948-6683-85DD-CBD9-5BBEB382C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58149FB4-8B19-3361-5526-0D45FFCE4A94}"/>
              </a:ext>
            </a:extLst>
          </p:cNvPr>
          <p:cNvSpPr txBox="1">
            <a:spLocks/>
          </p:cNvSpPr>
          <p:nvPr/>
        </p:nvSpPr>
        <p:spPr>
          <a:xfrm>
            <a:off x="2209800" y="108267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Ontology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 as a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hyperparameter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: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Task-aware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knowledge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graph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construction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 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using</a:t>
            </a:r>
            <a:r>
              <a:rPr lang="pl-PL" sz="3200" b="1" dirty="0">
                <a:solidFill>
                  <a:srgbClr val="C00000"/>
                </a:solidFill>
                <a:latin typeface="Calibri"/>
              </a:rPr>
              <a:t>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LLMs</a:t>
            </a:r>
            <a:endParaRPr lang="pl-PL" sz="3200" b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D2878B-52DB-B621-BC90-A11294672D03}"/>
              </a:ext>
            </a:extLst>
          </p:cNvPr>
          <p:cNvSpPr txBox="1">
            <a:spLocks/>
          </p:cNvSpPr>
          <p:nvPr/>
        </p:nvSpPr>
        <p:spPr>
          <a:xfrm>
            <a:off x="2895600" y="25527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 dirty="0"/>
              <a:t>Jan Frąckowiak, Piotr Wójcik and Michał Sierakowski</a:t>
            </a:r>
          </a:p>
          <a:p>
            <a:pPr marL="0" indent="0" algn="ctr">
              <a:buNone/>
            </a:pPr>
            <a:br>
              <a:rPr lang="en-US" sz="2000" dirty="0"/>
            </a:br>
            <a:r>
              <a:rPr lang="en-US" sz="2000" dirty="0"/>
              <a:t>Monthly joint seminar of QFRG and </a:t>
            </a:r>
            <a:r>
              <a:rPr lang="en-US" sz="2000" dirty="0" err="1"/>
              <a:t>DSLab</a:t>
            </a:r>
            <a:br>
              <a:rPr lang="en-US" sz="2000" dirty="0"/>
            </a:br>
            <a:r>
              <a:rPr lang="en-US" sz="2000" dirty="0"/>
              <a:t>13</a:t>
            </a:r>
            <a:r>
              <a:rPr lang="en-US" sz="2000" baseline="30000" dirty="0"/>
              <a:t>th</a:t>
            </a:r>
            <a:r>
              <a:rPr lang="en-US" sz="2000" dirty="0"/>
              <a:t> April 2026</a:t>
            </a:r>
            <a:endParaRPr lang="pl-PL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D9827-4C5C-4FF7-6F8D-5D824594C08E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ED904-6C65-E8CF-0E18-7ED98DF4840D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  <p:pic>
        <p:nvPicPr>
          <p:cNvPr id="4" name="Obraz 2">
            <a:extLst>
              <a:ext uri="{FF2B5EF4-FFF2-40B4-BE49-F238E27FC236}">
                <a16:creationId xmlns:a16="http://schemas.microsoft.com/office/drawing/2014/main" id="{E405DB2D-DA52-E3E4-EFB9-4C8D3384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30" y="4070620"/>
            <a:ext cx="11338539" cy="234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7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A624B-C78D-5325-9CD5-02419BBF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30CF281-5A1D-01FA-EBC2-75835D8A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70833531-540F-08B8-83A5-39B216C0A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F4555C6-0186-CBDD-F8B0-E5D1C0BC3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059D92-E7E7-7187-3720-8B6753C5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>
                <a:solidFill>
                  <a:srgbClr val="C00000"/>
                </a:solidFill>
              </a:rPr>
              <a:t>Agenda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4E53A-B474-7777-7086-759A43396EB9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D94DA0-660D-679B-720B-1E15E711B39A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 err="1"/>
              <a:t>History</a:t>
            </a:r>
            <a:r>
              <a:rPr lang="pl-PL" sz="2400" dirty="0"/>
              <a:t> </a:t>
            </a:r>
            <a:r>
              <a:rPr lang="pl-PL" sz="2400" dirty="0" err="1"/>
              <a:t>Textbook</a:t>
            </a:r>
            <a:r>
              <a:rPr lang="pl-PL" sz="2400" dirty="0"/>
              <a:t> </a:t>
            </a:r>
            <a:r>
              <a:rPr lang="pl-PL" sz="2400" dirty="0" err="1"/>
              <a:t>Example</a:t>
            </a:r>
            <a:endParaRPr lang="pl-PL" sz="2400"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/>
              <a:t>Knowledge </a:t>
            </a:r>
            <a:r>
              <a:rPr lang="pl-PL" sz="2400" dirty="0" err="1"/>
              <a:t>Graph</a:t>
            </a:r>
            <a:r>
              <a:rPr lang="pl-PL" sz="2400" dirty="0"/>
              <a:t> </a:t>
            </a:r>
            <a:r>
              <a:rPr lang="pl-PL" sz="2400" dirty="0" err="1"/>
              <a:t>Structure</a:t>
            </a:r>
            <a:endParaRPr lang="pl-PL" sz="2400"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 err="1"/>
              <a:t>Motivation</a:t>
            </a:r>
            <a:endParaRPr lang="pl-PL" sz="2400"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 err="1"/>
              <a:t>Related</a:t>
            </a:r>
            <a:r>
              <a:rPr lang="pl-PL" sz="2400" dirty="0"/>
              <a:t> </a:t>
            </a:r>
            <a:r>
              <a:rPr lang="pl-PL" sz="2400" dirty="0" err="1"/>
              <a:t>Work</a:t>
            </a:r>
            <a:r>
              <a:rPr lang="pl-PL" sz="2400" dirty="0"/>
              <a:t> &amp; </a:t>
            </a:r>
            <a:r>
              <a:rPr lang="pl-PL" sz="2400" dirty="0" err="1"/>
              <a:t>Positioning</a:t>
            </a:r>
            <a:endParaRPr lang="pl-PL" sz="2400"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 err="1"/>
              <a:t>Core</a:t>
            </a:r>
            <a:r>
              <a:rPr lang="pl-PL" sz="2400" dirty="0"/>
              <a:t> Idea</a:t>
            </a:r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/>
              <a:t>Application: Financial News</a:t>
            </a:r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/>
              <a:t>Preliminary </a:t>
            </a:r>
            <a:r>
              <a:rPr lang="pl-PL" sz="2400" dirty="0" err="1"/>
              <a:t>Results</a:t>
            </a:r>
            <a:endParaRPr lang="pl-PL" sz="2400" dirty="0"/>
          </a:p>
          <a:p>
            <a:pPr marL="457200" indent="-457200">
              <a:buFont typeface="+mj-lt"/>
              <a:buAutoNum type="arabicPeriod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400" dirty="0" err="1"/>
              <a:t>Research</a:t>
            </a:r>
            <a:r>
              <a:rPr lang="pl-PL" sz="2400" dirty="0"/>
              <a:t> Expansion &amp; </a:t>
            </a:r>
            <a:r>
              <a:rPr lang="pl-PL" sz="2400" dirty="0" err="1"/>
              <a:t>Expected</a:t>
            </a:r>
            <a:r>
              <a:rPr lang="pl-PL" sz="2400" dirty="0"/>
              <a:t> </a:t>
            </a:r>
            <a:r>
              <a:rPr lang="pl-PL" sz="2400" dirty="0" err="1"/>
              <a:t>Contributions</a:t>
            </a:r>
            <a:endParaRPr lang="pl-PL" sz="2400" dirty="0"/>
          </a:p>
        </p:txBody>
      </p:sp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87DE6963-63B2-E65F-286C-93BBA6DD42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1B896B-C296-F7F5-84EE-7A118DCBF547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5C9337-F34C-1818-ADD8-13497ACDFE5D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90984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96733-3149-0655-05A5-16BB1DAB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1BED4B5-A00C-9323-107B-E85D2690A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0559D581-0E2E-2F49-55B2-B34826305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DB845421-736C-12F3-0193-1BB883A2C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E3300A-BD26-54A3-7E7D-54E09AD8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 err="1">
                <a:solidFill>
                  <a:srgbClr val="C00000"/>
                </a:solidFill>
              </a:rPr>
              <a:t>Histor</a:t>
            </a:r>
            <a:r>
              <a:rPr lang="pl-PL" dirty="0">
                <a:solidFill>
                  <a:srgbClr val="C00000"/>
                </a:solidFill>
              </a:rPr>
              <a:t>y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Textbook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Example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053DD5F-72D9-2060-E9FB-DCAAA4B2D83E}"/>
              </a:ext>
            </a:extLst>
          </p:cNvPr>
          <p:cNvSpPr/>
          <p:nvPr/>
        </p:nvSpPr>
        <p:spPr>
          <a:xfrm>
            <a:off x="8508723" y="2855916"/>
            <a:ext cx="1145663" cy="98701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30" name="Curved Down Arrow 29">
            <a:extLst>
              <a:ext uri="{FF2B5EF4-FFF2-40B4-BE49-F238E27FC236}">
                <a16:creationId xmlns:a16="http://schemas.microsoft.com/office/drawing/2014/main" id="{9C021187-547E-2A00-F02C-9AFAA3A65D76}"/>
              </a:ext>
            </a:extLst>
          </p:cNvPr>
          <p:cNvSpPr/>
          <p:nvPr/>
        </p:nvSpPr>
        <p:spPr>
          <a:xfrm rot="18797846">
            <a:off x="2655108" y="4646216"/>
            <a:ext cx="1974574" cy="689113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18122F1-A39B-DECD-5DD3-CEA4584234B2}"/>
              </a:ext>
            </a:extLst>
          </p:cNvPr>
          <p:cNvSpPr/>
          <p:nvPr/>
        </p:nvSpPr>
        <p:spPr>
          <a:xfrm>
            <a:off x="2293632" y="5202844"/>
            <a:ext cx="1522046" cy="110345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Curved Down Arrow 30">
            <a:extLst>
              <a:ext uri="{FF2B5EF4-FFF2-40B4-BE49-F238E27FC236}">
                <a16:creationId xmlns:a16="http://schemas.microsoft.com/office/drawing/2014/main" id="{AEB6F37D-B8AD-FC01-113C-F81D75B060CB}"/>
              </a:ext>
            </a:extLst>
          </p:cNvPr>
          <p:cNvSpPr/>
          <p:nvPr/>
        </p:nvSpPr>
        <p:spPr>
          <a:xfrm>
            <a:off x="6750214" y="4550937"/>
            <a:ext cx="1974574" cy="689113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32" name="Curved Down Arrow 31">
            <a:extLst>
              <a:ext uri="{FF2B5EF4-FFF2-40B4-BE49-F238E27FC236}">
                <a16:creationId xmlns:a16="http://schemas.microsoft.com/office/drawing/2014/main" id="{F0427F2A-6C6F-C417-5889-58E1F6271702}"/>
              </a:ext>
            </a:extLst>
          </p:cNvPr>
          <p:cNvSpPr/>
          <p:nvPr/>
        </p:nvSpPr>
        <p:spPr>
          <a:xfrm flipV="1">
            <a:off x="6726844" y="3875919"/>
            <a:ext cx="1974574" cy="693710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2772A7-B624-6A7F-D920-512BDEF0EC82}"/>
              </a:ext>
            </a:extLst>
          </p:cNvPr>
          <p:cNvSpPr/>
          <p:nvPr/>
        </p:nvSpPr>
        <p:spPr>
          <a:xfrm>
            <a:off x="4588387" y="3493672"/>
            <a:ext cx="3015227" cy="2025955"/>
          </a:xfrm>
          <a:prstGeom prst="roundRect">
            <a:avLst/>
          </a:prstGeom>
          <a:solidFill>
            <a:srgbClr val="FC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4400" dirty="0">
                <a:solidFill>
                  <a:schemeClr val="tx1"/>
                </a:solidFill>
              </a:rPr>
              <a:t>?</a:t>
            </a:r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7E4F979-2CB1-FE9B-6BEB-5DDEC1ED1A59}"/>
              </a:ext>
            </a:extLst>
          </p:cNvPr>
          <p:cNvSpPr/>
          <p:nvPr/>
        </p:nvSpPr>
        <p:spPr>
          <a:xfrm>
            <a:off x="8508723" y="5319284"/>
            <a:ext cx="1145663" cy="98701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pic>
        <p:nvPicPr>
          <p:cNvPr id="4116" name="Picture 20" descr="Book Icons PNG, Vector, PSD, and Clipart With Transparent ...">
            <a:extLst>
              <a:ext uri="{FF2B5EF4-FFF2-40B4-BE49-F238E27FC236}">
                <a16:creationId xmlns:a16="http://schemas.microsoft.com/office/drawing/2014/main" id="{14289B37-F0EC-E680-1357-82DD0A458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781" y="5128074"/>
            <a:ext cx="1303867" cy="130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Laurel wreath - Free cultures icons">
            <a:extLst>
              <a:ext uri="{FF2B5EF4-FFF2-40B4-BE49-F238E27FC236}">
                <a16:creationId xmlns:a16="http://schemas.microsoft.com/office/drawing/2014/main" id="{7736DFDB-54BC-AA4E-D3F5-6E0B5FA82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255" y="5437571"/>
            <a:ext cx="828596" cy="82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BF5D8F2-9D9D-A023-B031-9917FE882558}"/>
              </a:ext>
            </a:extLst>
          </p:cNvPr>
          <p:cNvSpPr txBox="1"/>
          <p:nvPr/>
        </p:nvSpPr>
        <p:spPr>
          <a:xfrm>
            <a:off x="13106400" y="423333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pic>
        <p:nvPicPr>
          <p:cNvPr id="4122" name="Picture 26" descr="Broken shield - Free technology icons">
            <a:extLst>
              <a:ext uri="{FF2B5EF4-FFF2-40B4-BE49-F238E27FC236}">
                <a16:creationId xmlns:a16="http://schemas.microsoft.com/office/drawing/2014/main" id="{6E877A33-3C6B-C04C-B506-AF7C872D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788" y="2961213"/>
            <a:ext cx="776422" cy="77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6604C3-A94A-E29D-CFA5-7B53245BB838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33D4D9-44FB-F74F-C392-3EA43010FB47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dirty="0"/>
              <a:t>History textbook describing general history of Poland.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dirty="0"/>
              <a:t>How using these texts can we predict the outcome of the next military conflict?</a:t>
            </a:r>
          </a:p>
        </p:txBody>
      </p:sp>
      <p:pic>
        <p:nvPicPr>
          <p:cNvPr id="6" name="Picture 5" descr="Strona główna | Szkolenia WNE UW">
            <a:extLst>
              <a:ext uri="{FF2B5EF4-FFF2-40B4-BE49-F238E27FC236}">
                <a16:creationId xmlns:a16="http://schemas.microsoft.com/office/drawing/2014/main" id="{5766FC07-A4E0-7E2A-0B8D-766FF63296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77E8F00-14C7-472A-3AAA-0D4601F65C8A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4004-12B9-05BC-004A-6EE1FDFC660B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7496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136FD-8523-A8D7-921E-163B0414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07E5E436-1A2B-BA96-9BB3-F09C18CB3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D1C4D99D-CD0B-C4A7-AADE-DB5544FDA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4C1B7B8-84AF-5308-F9EB-80A969D57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D201DF-C9D1-B7EE-C1F2-0537945D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 err="1">
                <a:solidFill>
                  <a:srgbClr val="C00000"/>
                </a:solidFill>
              </a:rPr>
              <a:t>Histor</a:t>
            </a:r>
            <a:r>
              <a:rPr lang="pl-PL" dirty="0">
                <a:solidFill>
                  <a:srgbClr val="C00000"/>
                </a:solidFill>
              </a:rPr>
              <a:t>y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Textbook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Example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" name="AutoShape 2" descr="Wygenerowany obraz">
            <a:extLst>
              <a:ext uri="{FF2B5EF4-FFF2-40B4-BE49-F238E27FC236}">
                <a16:creationId xmlns:a16="http://schemas.microsoft.com/office/drawing/2014/main" id="{40EB464D-F9B7-F9DA-EEF7-00D15862C4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sp>
        <p:nvSpPr>
          <p:cNvPr id="12" name="Curved Down Arrow 11">
            <a:extLst>
              <a:ext uri="{FF2B5EF4-FFF2-40B4-BE49-F238E27FC236}">
                <a16:creationId xmlns:a16="http://schemas.microsoft.com/office/drawing/2014/main" id="{7C83D84C-7645-0236-D580-FFD7E61891B4}"/>
              </a:ext>
            </a:extLst>
          </p:cNvPr>
          <p:cNvSpPr/>
          <p:nvPr/>
        </p:nvSpPr>
        <p:spPr>
          <a:xfrm rot="18797846">
            <a:off x="2655108" y="4646216"/>
            <a:ext cx="1974574" cy="689113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4" name="Curved Down Arrow 13">
            <a:extLst>
              <a:ext uri="{FF2B5EF4-FFF2-40B4-BE49-F238E27FC236}">
                <a16:creationId xmlns:a16="http://schemas.microsoft.com/office/drawing/2014/main" id="{31ABBE65-6D7C-BC62-89C8-2C574E2B60F5}"/>
              </a:ext>
            </a:extLst>
          </p:cNvPr>
          <p:cNvSpPr/>
          <p:nvPr/>
        </p:nvSpPr>
        <p:spPr>
          <a:xfrm>
            <a:off x="6750214" y="4550937"/>
            <a:ext cx="1974574" cy="689113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15" name="Curved Down Arrow 14">
            <a:extLst>
              <a:ext uri="{FF2B5EF4-FFF2-40B4-BE49-F238E27FC236}">
                <a16:creationId xmlns:a16="http://schemas.microsoft.com/office/drawing/2014/main" id="{F2101E2A-D8A3-C704-2057-5E81E32293F4}"/>
              </a:ext>
            </a:extLst>
          </p:cNvPr>
          <p:cNvSpPr/>
          <p:nvPr/>
        </p:nvSpPr>
        <p:spPr>
          <a:xfrm flipV="1">
            <a:off x="6726844" y="3875919"/>
            <a:ext cx="1974574" cy="693710"/>
          </a:xfrm>
          <a:prstGeom prst="curvedDownArrow">
            <a:avLst>
              <a:gd name="adj1" fmla="val 12177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CD9B6D-337A-1474-C0FA-E247ACE3E133}"/>
              </a:ext>
            </a:extLst>
          </p:cNvPr>
          <p:cNvSpPr/>
          <p:nvPr/>
        </p:nvSpPr>
        <p:spPr>
          <a:xfrm>
            <a:off x="4588387" y="3493672"/>
            <a:ext cx="3015227" cy="202595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73235B5-41AC-F846-9014-2BB7D2F63981}"/>
              </a:ext>
            </a:extLst>
          </p:cNvPr>
          <p:cNvSpPr/>
          <p:nvPr/>
        </p:nvSpPr>
        <p:spPr>
          <a:xfrm>
            <a:off x="2293632" y="5202844"/>
            <a:ext cx="1522046" cy="110345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20" name="Picture 20" descr="Book Icons PNG, Vector, PSD, and Clipart With Transparent ...">
            <a:extLst>
              <a:ext uri="{FF2B5EF4-FFF2-40B4-BE49-F238E27FC236}">
                <a16:creationId xmlns:a16="http://schemas.microsoft.com/office/drawing/2014/main" id="{A37AECE8-1C6B-7068-3CA3-AEDF98DE4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781" y="5128074"/>
            <a:ext cx="1303867" cy="130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6BAA419-638E-40C8-B788-BC11BBF4E963}"/>
              </a:ext>
            </a:extLst>
          </p:cNvPr>
          <p:cNvSpPr/>
          <p:nvPr/>
        </p:nvSpPr>
        <p:spPr>
          <a:xfrm>
            <a:off x="8508723" y="2855916"/>
            <a:ext cx="1145663" cy="98701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pic>
        <p:nvPicPr>
          <p:cNvPr id="22" name="Picture 26" descr="Broken shield - Free technology icons">
            <a:extLst>
              <a:ext uri="{FF2B5EF4-FFF2-40B4-BE49-F238E27FC236}">
                <a16:creationId xmlns:a16="http://schemas.microsoft.com/office/drawing/2014/main" id="{0C245170-46EF-0FC3-7D61-495803C49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788" y="2961213"/>
            <a:ext cx="776422" cy="77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20CB59-B267-553C-742C-7584E8808653}"/>
              </a:ext>
            </a:extLst>
          </p:cNvPr>
          <p:cNvSpPr/>
          <p:nvPr/>
        </p:nvSpPr>
        <p:spPr>
          <a:xfrm>
            <a:off x="8508723" y="5319284"/>
            <a:ext cx="1145663" cy="987016"/>
          </a:xfrm>
          <a:prstGeom prst="roundRect">
            <a:avLst/>
          </a:prstGeom>
          <a:solidFill>
            <a:srgbClr val="FD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pic>
        <p:nvPicPr>
          <p:cNvPr id="24" name="Picture 22" descr="Laurel wreath - Free cultures icons">
            <a:extLst>
              <a:ext uri="{FF2B5EF4-FFF2-40B4-BE49-F238E27FC236}">
                <a16:creationId xmlns:a16="http://schemas.microsoft.com/office/drawing/2014/main" id="{24826FF4-54E8-839D-352F-E2EB8C06F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255" y="5437571"/>
            <a:ext cx="828596" cy="82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6A0B25-57B4-F965-0A97-34420083B166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EB1893-F63F-E30B-A197-403754A9A3A3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dirty="0"/>
              <a:t>Which events, actors, alliances matter?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dirty="0"/>
              <a:t>Prediction depends on identifying correct entities and relations between them </a:t>
            </a:r>
            <a:r>
              <a:rPr lang="en-GB" b="1" dirty="0"/>
              <a:t>(representation/graph)</a:t>
            </a:r>
            <a:endParaRPr lang="en-GB" dirty="0"/>
          </a:p>
        </p:txBody>
      </p:sp>
      <p:pic>
        <p:nvPicPr>
          <p:cNvPr id="8" name="Picture 7" descr="Strona główna | Szkolenia WNE UW">
            <a:extLst>
              <a:ext uri="{FF2B5EF4-FFF2-40B4-BE49-F238E27FC236}">
                <a16:creationId xmlns:a16="http://schemas.microsoft.com/office/drawing/2014/main" id="{A1A53D97-0921-1557-FDD8-A9707553AFF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64BF00-8B94-59D4-5C0F-3EB90421445F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AD457C-5F2A-0383-3858-2B7E3ECFF3B8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6434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CDD771B-49EA-F46F-9E91-DB09875E29F9}"/>
              </a:ext>
            </a:extLst>
          </p:cNvPr>
          <p:cNvSpPr/>
          <p:nvPr/>
        </p:nvSpPr>
        <p:spPr>
          <a:xfrm>
            <a:off x="3750522" y="4344088"/>
            <a:ext cx="3015227" cy="202595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9" name="Curved Down Arrow 18">
            <a:extLst>
              <a:ext uri="{FF2B5EF4-FFF2-40B4-BE49-F238E27FC236}">
                <a16:creationId xmlns:a16="http://schemas.microsoft.com/office/drawing/2014/main" id="{99522B60-DC44-6BE5-D8FA-0F0DCAC45484}"/>
              </a:ext>
            </a:extLst>
          </p:cNvPr>
          <p:cNvSpPr/>
          <p:nvPr/>
        </p:nvSpPr>
        <p:spPr>
          <a:xfrm rot="9085356">
            <a:off x="6676850" y="5094506"/>
            <a:ext cx="3935184" cy="1020598"/>
          </a:xfrm>
          <a:prstGeom prst="curvedDownArrow">
            <a:avLst>
              <a:gd name="adj1" fmla="val 20906"/>
              <a:gd name="adj2" fmla="val 43761"/>
              <a:gd name="adj3" fmla="val 34717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tx1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AC32CB8-B85E-509F-20A6-581292F43D66}"/>
              </a:ext>
            </a:extLst>
          </p:cNvPr>
          <p:cNvSpPr/>
          <p:nvPr/>
        </p:nvSpPr>
        <p:spPr>
          <a:xfrm>
            <a:off x="7287065" y="1420704"/>
            <a:ext cx="4034477" cy="4381414"/>
          </a:xfrm>
          <a:prstGeom prst="round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FBE58-A8BC-85BE-0C08-6264087E49D8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F495A1-44BD-B8FC-70B2-7A3259DF8AF7}"/>
              </a:ext>
            </a:extLst>
          </p:cNvPr>
          <p:cNvSpPr txBox="1">
            <a:spLocks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en-GB" sz="4000" b="1" dirty="0">
                <a:solidFill>
                  <a:srgbClr val="C00000"/>
                </a:solidFill>
                <a:latin typeface="Calibri"/>
              </a:rPr>
              <a:t>Knowledge Graph Structure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E27EE2-8D77-83A1-6E69-A51F24C7DCC4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60825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Ontology = </a:t>
            </a:r>
            <a:r>
              <a:rPr lang="en-GB" sz="2400" b="1" dirty="0"/>
              <a:t>structure organising representation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Selecting relationships and categories changes predictions.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Graph geometry determines predictive power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400" b="1" dirty="0"/>
          </a:p>
        </p:txBody>
      </p:sp>
      <p:pic>
        <p:nvPicPr>
          <p:cNvPr id="6" name="Picture 5" descr="Strona główna | Szkolenia WNE UW">
            <a:extLst>
              <a:ext uri="{FF2B5EF4-FFF2-40B4-BE49-F238E27FC236}">
                <a16:creationId xmlns:a16="http://schemas.microsoft.com/office/drawing/2014/main" id="{9D0C3A33-1415-7004-64D2-2BCAE36C65B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2953FF-A722-BF36-84A2-E6E82464FC68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44CC7-38CF-7F7A-0614-4CE72756B745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B9DA7-A943-EE25-E301-A0243FBA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C5C771AD-6B7D-FF64-A69F-7F3182086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948B8484-EAFC-DC7F-252E-02BFE07B0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3CA373D1-67C3-CA6F-1FE8-0F8B56E78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24F8E-8A90-7EF2-39A7-B458E9B5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>
                <a:solidFill>
                  <a:srgbClr val="C00000"/>
                </a:solidFill>
              </a:rPr>
              <a:t>Motivation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904A2-6664-5B5A-9877-7BBD3FA2AE47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C4ECE8-0733-9EE1-7252-E04E0F316F08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Evolution of AI Systems: LLMs -&gt; AI Agents -&gt; Specialisation and tooling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Increasing reliance on </a:t>
            </a:r>
            <a:r>
              <a:rPr lang="en-GB" sz="2400" b="1" dirty="0"/>
              <a:t>knowledge graphs </a:t>
            </a:r>
            <a:r>
              <a:rPr lang="en-GB" sz="2400" dirty="0"/>
              <a:t>built from text</a:t>
            </a:r>
            <a:endParaRPr lang="en-GB" sz="2400" b="1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300" dirty="0" err="1"/>
              <a:t>Multiple</a:t>
            </a:r>
            <a:r>
              <a:rPr lang="pl-PL" sz="2300" dirty="0"/>
              <a:t> </a:t>
            </a:r>
            <a:r>
              <a:rPr lang="pl-PL" sz="2300" dirty="0" err="1"/>
              <a:t>tasks</a:t>
            </a:r>
            <a:r>
              <a:rPr lang="pl-PL" sz="2300" dirty="0"/>
              <a:t>: </a:t>
            </a:r>
            <a:r>
              <a:rPr lang="pl-PL" sz="2300" dirty="0" err="1"/>
              <a:t>question</a:t>
            </a:r>
            <a:r>
              <a:rPr lang="pl-PL" sz="2300" dirty="0"/>
              <a:t> </a:t>
            </a:r>
            <a:r>
              <a:rPr lang="pl-PL" sz="2300" dirty="0" err="1"/>
              <a:t>answering</a:t>
            </a:r>
            <a:r>
              <a:rPr lang="pl-PL" sz="2300" dirty="0"/>
              <a:t>, network </a:t>
            </a:r>
            <a:r>
              <a:rPr lang="pl-PL" sz="2300" dirty="0" err="1"/>
              <a:t>analysis</a:t>
            </a:r>
            <a:r>
              <a:rPr lang="pl-PL" sz="2300" dirty="0"/>
              <a:t>, </a:t>
            </a:r>
            <a:r>
              <a:rPr lang="pl-PL" sz="2300" dirty="0" err="1"/>
              <a:t>prediction</a:t>
            </a:r>
            <a:r>
              <a:rPr lang="pl-PL" sz="2300" dirty="0"/>
              <a:t> </a:t>
            </a:r>
            <a:r>
              <a:rPr lang="pl-PL" sz="2300" dirty="0" err="1"/>
              <a:t>tasks</a:t>
            </a:r>
            <a:endParaRPr lang="pl-PL" sz="23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300" dirty="0" err="1"/>
              <a:t>Limitations</a:t>
            </a:r>
            <a:r>
              <a:rPr lang="pl-PL" sz="2300" dirty="0"/>
              <a:t> of </a:t>
            </a:r>
            <a:r>
              <a:rPr lang="pl-PL" sz="2300" dirty="0" err="1"/>
              <a:t>current</a:t>
            </a:r>
            <a:r>
              <a:rPr lang="pl-PL" sz="2300" dirty="0"/>
              <a:t> </a:t>
            </a:r>
            <a:r>
              <a:rPr lang="pl-PL" sz="2300" dirty="0" err="1"/>
              <a:t>approach</a:t>
            </a:r>
            <a:r>
              <a:rPr lang="pl-PL" sz="2300" dirty="0"/>
              <a:t> to </a:t>
            </a:r>
            <a:r>
              <a:rPr lang="pl-PL" sz="2300" dirty="0" err="1"/>
              <a:t>KGs</a:t>
            </a:r>
            <a:endParaRPr lang="pl-PL" sz="23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300" dirty="0" err="1"/>
              <a:t>Frameworks</a:t>
            </a:r>
            <a:r>
              <a:rPr lang="pl-PL" sz="2300" dirty="0"/>
              <a:t> for KG </a:t>
            </a:r>
            <a:r>
              <a:rPr lang="pl-PL" sz="2300" dirty="0" err="1"/>
              <a:t>construction</a:t>
            </a:r>
            <a:r>
              <a:rPr lang="pl-PL" sz="2300" dirty="0"/>
              <a:t> </a:t>
            </a:r>
            <a:r>
              <a:rPr lang="pl-PL" sz="2300" dirty="0" err="1"/>
              <a:t>are</a:t>
            </a:r>
            <a:r>
              <a:rPr lang="pl-PL" sz="2300" dirty="0"/>
              <a:t> </a:t>
            </a:r>
            <a:r>
              <a:rPr lang="pl-PL" sz="2300" dirty="0" err="1"/>
              <a:t>static</a:t>
            </a:r>
            <a:r>
              <a:rPr lang="pl-PL" sz="2300" dirty="0"/>
              <a:t> (neo4j, </a:t>
            </a:r>
            <a:r>
              <a:rPr lang="pl-PL" sz="2300" dirty="0" err="1"/>
              <a:t>llamaindex</a:t>
            </a:r>
            <a:r>
              <a:rPr lang="pl-PL" sz="2300" dirty="0"/>
              <a:t>)</a:t>
            </a:r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pl-PL" sz="2300" dirty="0" err="1"/>
              <a:t>KG’s</a:t>
            </a:r>
            <a:r>
              <a:rPr lang="pl-PL" sz="2300" dirty="0"/>
              <a:t> </a:t>
            </a:r>
            <a:r>
              <a:rPr lang="pl-PL" sz="2300" dirty="0" err="1"/>
              <a:t>are</a:t>
            </a:r>
            <a:r>
              <a:rPr lang="pl-PL" sz="2300" dirty="0"/>
              <a:t> </a:t>
            </a:r>
            <a:r>
              <a:rPr lang="pl-PL" sz="2300" dirty="0" err="1"/>
              <a:t>mostly</a:t>
            </a:r>
            <a:r>
              <a:rPr lang="pl-PL" sz="2300" dirty="0"/>
              <a:t> </a:t>
            </a:r>
            <a:r>
              <a:rPr lang="pl-PL" sz="2300" dirty="0" err="1"/>
              <a:t>evaluated</a:t>
            </a:r>
            <a:r>
              <a:rPr lang="pl-PL" sz="2300" dirty="0"/>
              <a:t> </a:t>
            </a:r>
            <a:r>
              <a:rPr lang="pl-PL" sz="2300" dirty="0" err="1"/>
              <a:t>structurally</a:t>
            </a:r>
            <a:r>
              <a:rPr lang="pl-PL" sz="2300" dirty="0"/>
              <a:t>. </a:t>
            </a:r>
            <a:br>
              <a:rPr lang="pl-PL" sz="2300" dirty="0"/>
            </a:br>
            <a:endParaRPr lang="pl-PL" sz="2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13D2ED-ACCF-5054-F3F0-862D92E19EA6}"/>
              </a:ext>
            </a:extLst>
          </p:cNvPr>
          <p:cNvSpPr/>
          <p:nvPr/>
        </p:nvSpPr>
        <p:spPr>
          <a:xfrm>
            <a:off x="1022874" y="4731594"/>
            <a:ext cx="10119360" cy="77595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2300" b="1" dirty="0">
                <a:solidFill>
                  <a:schemeClr val="tx1"/>
                </a:solidFill>
              </a:rPr>
              <a:t>	</a:t>
            </a:r>
            <a:r>
              <a:rPr lang="pl-PL" sz="2300" b="1" dirty="0" err="1">
                <a:solidFill>
                  <a:schemeClr val="tx1"/>
                </a:solidFill>
              </a:rPr>
              <a:t>Question</a:t>
            </a:r>
            <a:r>
              <a:rPr lang="pl-PL" sz="2300" b="1" dirty="0">
                <a:solidFill>
                  <a:schemeClr val="tx1"/>
                </a:solidFill>
              </a:rPr>
              <a:t>: </a:t>
            </a:r>
            <a:r>
              <a:rPr lang="pl-PL" sz="2300" dirty="0" err="1">
                <a:solidFill>
                  <a:schemeClr val="tx1"/>
                </a:solidFill>
              </a:rPr>
              <a:t>Can</a:t>
            </a:r>
            <a:r>
              <a:rPr lang="pl-PL" sz="2300" dirty="0">
                <a:solidFill>
                  <a:schemeClr val="tx1"/>
                </a:solidFill>
              </a:rPr>
              <a:t> KG </a:t>
            </a:r>
            <a:r>
              <a:rPr lang="pl-PL" sz="2300" dirty="0" err="1">
                <a:solidFill>
                  <a:schemeClr val="tx1"/>
                </a:solidFill>
              </a:rPr>
              <a:t>construction</a:t>
            </a:r>
            <a:r>
              <a:rPr lang="pl-PL" sz="2300" dirty="0">
                <a:solidFill>
                  <a:schemeClr val="tx1"/>
                </a:solidFill>
              </a:rPr>
              <a:t> be </a:t>
            </a:r>
            <a:r>
              <a:rPr lang="pl-PL" sz="2300" dirty="0" err="1">
                <a:solidFill>
                  <a:schemeClr val="tx1"/>
                </a:solidFill>
              </a:rPr>
              <a:t>optimized</a:t>
            </a:r>
            <a:r>
              <a:rPr lang="pl-PL" sz="2300" dirty="0">
                <a:solidFill>
                  <a:schemeClr val="tx1"/>
                </a:solidFill>
              </a:rPr>
              <a:t> with a </a:t>
            </a:r>
            <a:r>
              <a:rPr lang="pl-PL" sz="2300" dirty="0" err="1">
                <a:solidFill>
                  <a:schemeClr val="tx1"/>
                </a:solidFill>
              </a:rPr>
              <a:t>specific</a:t>
            </a:r>
            <a:r>
              <a:rPr lang="pl-PL" sz="2300" dirty="0">
                <a:solidFill>
                  <a:schemeClr val="tx1"/>
                </a:solidFill>
              </a:rPr>
              <a:t> </a:t>
            </a:r>
            <a:r>
              <a:rPr lang="pl-PL" sz="2300" dirty="0" err="1">
                <a:solidFill>
                  <a:schemeClr val="tx1"/>
                </a:solidFill>
              </a:rPr>
              <a:t>task</a:t>
            </a:r>
            <a:r>
              <a:rPr lang="pl-PL" sz="2300" dirty="0">
                <a:solidFill>
                  <a:schemeClr val="tx1"/>
                </a:solidFill>
              </a:rPr>
              <a:t> in </a:t>
            </a:r>
            <a:r>
              <a:rPr lang="pl-PL" sz="2300" dirty="0" err="1">
                <a:solidFill>
                  <a:schemeClr val="tx1"/>
                </a:solidFill>
              </a:rPr>
              <a:t>mind</a:t>
            </a:r>
            <a:r>
              <a:rPr lang="pl-PL" sz="23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00C0D-E3E3-516C-8E1E-C46741F227A4}"/>
              </a:ext>
            </a:extLst>
          </p:cNvPr>
          <p:cNvSpPr/>
          <p:nvPr/>
        </p:nvSpPr>
        <p:spPr>
          <a:xfrm>
            <a:off x="1022874" y="4731594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4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Strona główna | Szkolenia WNE UW">
            <a:extLst>
              <a:ext uri="{FF2B5EF4-FFF2-40B4-BE49-F238E27FC236}">
                <a16:creationId xmlns:a16="http://schemas.microsoft.com/office/drawing/2014/main" id="{E4D02657-7923-AA0B-CCF9-0F9C4379D5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556779-407F-D96F-6BE2-66AF62623977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DB1D9-FC92-138A-8EB7-468385010B0A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07487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9A6F9-ECDB-E5A0-B9A2-F8C08433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346F990F-AB5A-0546-CB30-1F07AEB1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B88D28F7-E674-BF9F-82A1-95FDE0739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C0782C64-9670-B9B1-43DD-88D884839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D262CB-996A-0231-8FC3-44C62E2C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en-GB" sz="4000" b="1" dirty="0">
                <a:solidFill>
                  <a:srgbClr val="C00000"/>
                </a:solidFill>
              </a:rPr>
              <a:t>Related Work &amp; Positioning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0009F-B177-8869-349A-05EE0A65DA31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61AD25-EEDA-6EC9-6DDE-ACA5CAA60B95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11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300" b="1" dirty="0"/>
              <a:t>Structural KG Evaluation</a:t>
            </a:r>
            <a:br>
              <a:rPr lang="en-GB" sz="2300" dirty="0"/>
            </a:br>
            <a:r>
              <a:rPr lang="en-GB" sz="2300" dirty="0"/>
              <a:t>Paulheim et al. (2024) — structural vs downstream quality metrics</a:t>
            </a:r>
            <a:br>
              <a:rPr lang="en-GB" sz="2300" dirty="0"/>
            </a:br>
            <a:r>
              <a:rPr lang="en-GB" sz="2300" dirty="0"/>
              <a:t>Choi &amp; Jung (2020) — GEval framework</a:t>
            </a:r>
          </a:p>
          <a:p>
            <a:r>
              <a:rPr lang="en-GB" sz="2300" b="1" dirty="0"/>
              <a:t>Task-Based Evaluation Frameworks using KGs</a:t>
            </a:r>
            <a:br>
              <a:rPr lang="en-GB" sz="2300" b="1" dirty="0"/>
            </a:br>
            <a:r>
              <a:rPr lang="en-GB" sz="2300" dirty="0"/>
              <a:t>GEval (2020), </a:t>
            </a:r>
            <a:r>
              <a:rPr lang="en-GB" sz="2300" dirty="0" err="1"/>
              <a:t>Kgbench</a:t>
            </a:r>
            <a:r>
              <a:rPr lang="en-GB" sz="2300" dirty="0"/>
              <a:t> (2022), LLM-KG-Bench (AKSW, 2024)</a:t>
            </a:r>
            <a:br>
              <a:rPr lang="en-GB" sz="2300" dirty="0"/>
            </a:br>
            <a:r>
              <a:rPr lang="en-GB" sz="2300" dirty="0"/>
              <a:t>Heist et al. (2023) — </a:t>
            </a:r>
            <a:r>
              <a:rPr lang="en-GB" sz="2300" dirty="0" err="1"/>
              <a:t>KGrEaT</a:t>
            </a:r>
            <a:r>
              <a:rPr lang="en-GB" sz="2300" dirty="0"/>
              <a:t> with KG as evaluation target</a:t>
            </a:r>
          </a:p>
          <a:p>
            <a:r>
              <a:rPr lang="en-GB" sz="2300" b="1" dirty="0"/>
              <a:t>Task-Guided KG Construction</a:t>
            </a:r>
            <a:br>
              <a:rPr lang="en-GB" sz="2300" dirty="0"/>
            </a:br>
            <a:r>
              <a:rPr lang="en-GB" sz="2300" dirty="0"/>
              <a:t>Kovács et al. (2023) — competency-question-driven construction</a:t>
            </a:r>
            <a:br>
              <a:rPr lang="en-GB" sz="2300" dirty="0"/>
            </a:br>
            <a:r>
              <a:rPr lang="en-PL" sz="2300" dirty="0"/>
              <a:t>Li et al. (2025) </a:t>
            </a:r>
            <a:r>
              <a:rPr lang="en-GB" sz="2300" dirty="0"/>
              <a:t>— construction supported with RL methods</a:t>
            </a:r>
            <a:endParaRPr lang="en-GB" sz="23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24717-0533-85BF-9B23-EBEA601755C2}"/>
              </a:ext>
            </a:extLst>
          </p:cNvPr>
          <p:cNvSpPr/>
          <p:nvPr/>
        </p:nvSpPr>
        <p:spPr>
          <a:xfrm>
            <a:off x="1109526" y="5385834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400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Strona główna | Szkolenia WNE UW">
            <a:extLst>
              <a:ext uri="{FF2B5EF4-FFF2-40B4-BE49-F238E27FC236}">
                <a16:creationId xmlns:a16="http://schemas.microsoft.com/office/drawing/2014/main" id="{BBF61080-937D-1420-9F25-071ACFD48E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E24D7D-3EB6-F012-0AAC-FFD75CA51B05}"/>
              </a:ext>
            </a:extLst>
          </p:cNvPr>
          <p:cNvSpPr/>
          <p:nvPr/>
        </p:nvSpPr>
        <p:spPr>
          <a:xfrm>
            <a:off x="1109526" y="5385834"/>
            <a:ext cx="10119360" cy="77595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2300" b="1" dirty="0">
                <a:solidFill>
                  <a:schemeClr val="tx1"/>
                </a:solidFill>
              </a:rPr>
              <a:t>	Gap : </a:t>
            </a:r>
            <a:r>
              <a:rPr lang="pl-PL" sz="2300" dirty="0">
                <a:solidFill>
                  <a:schemeClr val="tx1"/>
                </a:solidFill>
              </a:rPr>
              <a:t>No </a:t>
            </a:r>
            <a:r>
              <a:rPr lang="en-GB" sz="2300" dirty="0">
                <a:solidFill>
                  <a:schemeClr val="tx1"/>
                </a:solidFill>
              </a:rPr>
              <a:t>lightweight error-driven ontology adaptation.</a:t>
            </a:r>
            <a:endParaRPr lang="pl-PL" sz="23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74CA1-2941-B098-C521-4FE17D7F8B71}"/>
              </a:ext>
            </a:extLst>
          </p:cNvPr>
          <p:cNvSpPr/>
          <p:nvPr/>
        </p:nvSpPr>
        <p:spPr>
          <a:xfrm>
            <a:off x="1109526" y="5385834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EF873C-AFEB-32AF-3278-FBAB79D54AFB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B6962D-9A39-9D35-55E6-F5D254C1201A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96744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19828-0ADE-EFB3-029F-BC820973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D61662BD-8E54-0B95-0203-498188DC8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DC35A88D-40B2-427F-203A-58F518593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91F4BF6-EDAD-2279-A0C2-22265BBE6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BDFC44-81F7-546E-6905-8539421D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 Idea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2BCB77-9154-2786-3E3F-9DEA4A65C27F}"/>
              </a:ext>
            </a:extLst>
          </p:cNvPr>
          <p:cNvGrpSpPr/>
          <p:nvPr/>
        </p:nvGrpSpPr>
        <p:grpSpPr>
          <a:xfrm>
            <a:off x="4283155" y="1687512"/>
            <a:ext cx="2128566" cy="2015846"/>
            <a:chOff x="2014794" y="923925"/>
            <a:chExt cx="2128566" cy="2015846"/>
          </a:xfrm>
        </p:grpSpPr>
        <p:sp>
          <p:nvSpPr>
            <p:cNvPr id="28" name="Rounded Rectangle 1">
              <a:extLst>
                <a:ext uri="{FF2B5EF4-FFF2-40B4-BE49-F238E27FC236}">
                  <a16:creationId xmlns:a16="http://schemas.microsoft.com/office/drawing/2014/main" id="{B39A8B59-EC3A-F8AB-D620-5CC68674F5AC}"/>
                </a:ext>
              </a:extLst>
            </p:cNvPr>
            <p:cNvSpPr/>
            <p:nvPr/>
          </p:nvSpPr>
          <p:spPr>
            <a:xfrm>
              <a:off x="2066903" y="1133475"/>
              <a:ext cx="1257300" cy="1257300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49"/>
                  </a:moveTo>
                  <a:cubicBezTo>
                    <a:pt x="0" y="975843"/>
                    <a:pt x="281456" y="1257300"/>
                    <a:pt x="628650" y="1257300"/>
                  </a:cubicBezTo>
                  <a:cubicBezTo>
                    <a:pt x="975843" y="1257300"/>
                    <a:pt x="1257300" y="975843"/>
                    <a:pt x="1257300" y="628650"/>
                  </a:cubicBezTo>
                  <a:cubicBezTo>
                    <a:pt x="1257300" y="281456"/>
                    <a:pt x="975843" y="0"/>
                    <a:pt x="628650" y="0"/>
                  </a:cubicBezTo>
                  <a:cubicBezTo>
                    <a:pt x="281456" y="0"/>
                    <a:pt x="0" y="281456"/>
                    <a:pt x="0" y="628650"/>
                  </a:cubicBezTo>
                </a:path>
              </a:pathLst>
            </a:custGeom>
            <a:noFill/>
            <a:ln w="14287">
              <a:solidFill>
                <a:srgbClr val="DDA83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ounded Rectangle 2">
              <a:extLst>
                <a:ext uri="{FF2B5EF4-FFF2-40B4-BE49-F238E27FC236}">
                  <a16:creationId xmlns:a16="http://schemas.microsoft.com/office/drawing/2014/main" id="{73C4A60A-56DF-212B-D15E-A2E33C778D84}"/>
                </a:ext>
              </a:extLst>
            </p:cNvPr>
            <p:cNvSpPr/>
            <p:nvPr/>
          </p:nvSpPr>
          <p:spPr>
            <a:xfrm>
              <a:off x="2014794" y="923925"/>
              <a:ext cx="2128566" cy="2015846"/>
            </a:xfrm>
            <a:custGeom>
              <a:avLst/>
              <a:gdLst/>
              <a:ahLst/>
              <a:cxnLst/>
              <a:rect l="0" t="0" r="0" b="0"/>
              <a:pathLst>
                <a:path w="2128566" h="2015846">
                  <a:moveTo>
                    <a:pt x="2128566" y="390525"/>
                  </a:moveTo>
                  <a:lnTo>
                    <a:pt x="1709466" y="0"/>
                  </a:lnTo>
                  <a:lnTo>
                    <a:pt x="1709466" y="246747"/>
                  </a:lnTo>
                  <a:cubicBezTo>
                    <a:pt x="1508786" y="259771"/>
                    <a:pt x="1311325" y="305657"/>
                    <a:pt x="1125034" y="382822"/>
                  </a:cubicBezTo>
                  <a:cubicBezTo>
                    <a:pt x="1122506" y="383868"/>
                    <a:pt x="1119980" y="384921"/>
                    <a:pt x="1117458" y="385979"/>
                  </a:cubicBezTo>
                  <a:cubicBezTo>
                    <a:pt x="1207470" y="472920"/>
                    <a:pt x="1271597" y="586487"/>
                    <a:pt x="1297150" y="713994"/>
                  </a:cubicBezTo>
                  <a:cubicBezTo>
                    <a:pt x="1429427" y="662583"/>
                    <a:pt x="1568322" y="630696"/>
                    <a:pt x="1709466" y="619202"/>
                  </a:cubicBezTo>
                  <a:lnTo>
                    <a:pt x="1709466" y="781050"/>
                  </a:lnTo>
                  <a:lnTo>
                    <a:pt x="2128566" y="390525"/>
                  </a:lnTo>
                  <a:close/>
                  <a:moveTo>
                    <a:pt x="507903" y="1442784"/>
                  </a:moveTo>
                  <a:cubicBezTo>
                    <a:pt x="383687" y="1407334"/>
                    <a:pt x="275181" y="1334639"/>
                    <a:pt x="195232" y="1237546"/>
                  </a:cubicBezTo>
                  <a:cubicBezTo>
                    <a:pt x="171617" y="1283262"/>
                    <a:pt x="149894" y="1330023"/>
                    <a:pt x="130140" y="1377716"/>
                  </a:cubicBezTo>
                  <a:cubicBezTo>
                    <a:pt x="62023" y="1542163"/>
                    <a:pt x="18281" y="1762940"/>
                    <a:pt x="0" y="1939326"/>
                  </a:cubicBezTo>
                  <a:lnTo>
                    <a:pt x="147367" y="1781175"/>
                  </a:lnTo>
                  <a:lnTo>
                    <a:pt x="366039" y="2015846"/>
                  </a:lnTo>
                  <a:cubicBezTo>
                    <a:pt x="377931" y="1861911"/>
                    <a:pt x="414073" y="1662950"/>
                    <a:pt x="473338" y="1519873"/>
                  </a:cubicBezTo>
                  <a:cubicBezTo>
                    <a:pt x="484130" y="1493819"/>
                    <a:pt x="495658" y="1468113"/>
                    <a:pt x="507903" y="1442784"/>
                  </a:cubicBezTo>
                  <a:close/>
                </a:path>
              </a:pathLst>
            </a:custGeom>
            <a:noFill/>
            <a:ln w="14287">
              <a:solidFill>
                <a:srgbClr val="DDA83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08832B-01EB-D1A2-8483-CF3467D45B51}"/>
              </a:ext>
            </a:extLst>
          </p:cNvPr>
          <p:cNvGrpSpPr/>
          <p:nvPr/>
        </p:nvGrpSpPr>
        <p:grpSpPr>
          <a:xfrm>
            <a:off x="4040012" y="3468688"/>
            <a:ext cx="2005677" cy="2130719"/>
            <a:chOff x="1771650" y="2705100"/>
            <a:chExt cx="2005677" cy="2130719"/>
          </a:xfrm>
        </p:grpSpPr>
        <p:sp>
          <p:nvSpPr>
            <p:cNvPr id="31" name="Rounded Rectangle 4">
              <a:extLst>
                <a:ext uri="{FF2B5EF4-FFF2-40B4-BE49-F238E27FC236}">
                  <a16:creationId xmlns:a16="http://schemas.microsoft.com/office/drawing/2014/main" id="{A76033CA-7381-933E-21AB-B6E421DBFE93}"/>
                </a:ext>
              </a:extLst>
            </p:cNvPr>
            <p:cNvSpPr/>
            <p:nvPr/>
          </p:nvSpPr>
          <p:spPr>
            <a:xfrm>
              <a:off x="2066925" y="3533775"/>
              <a:ext cx="1257300" cy="1257300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49"/>
                  </a:moveTo>
                  <a:cubicBezTo>
                    <a:pt x="0" y="975843"/>
                    <a:pt x="281456" y="1257300"/>
                    <a:pt x="628650" y="1257300"/>
                  </a:cubicBezTo>
                  <a:cubicBezTo>
                    <a:pt x="975843" y="1257300"/>
                    <a:pt x="1257300" y="975843"/>
                    <a:pt x="1257300" y="628650"/>
                  </a:cubicBezTo>
                  <a:cubicBezTo>
                    <a:pt x="1257300" y="281456"/>
                    <a:pt x="975843" y="0"/>
                    <a:pt x="628650" y="0"/>
                  </a:cubicBezTo>
                  <a:cubicBezTo>
                    <a:pt x="281456" y="0"/>
                    <a:pt x="0" y="281456"/>
                    <a:pt x="0" y="628650"/>
                  </a:cubicBezTo>
                </a:path>
              </a:pathLst>
            </a:custGeom>
            <a:noFill/>
            <a:ln w="14287">
              <a:solidFill>
                <a:srgbClr val="3A726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Rounded Rectangle 5">
              <a:extLst>
                <a:ext uri="{FF2B5EF4-FFF2-40B4-BE49-F238E27FC236}">
                  <a16:creationId xmlns:a16="http://schemas.microsoft.com/office/drawing/2014/main" id="{3BBC7816-12FA-4F9C-6ED3-DBAB86D134A6}"/>
                </a:ext>
              </a:extLst>
            </p:cNvPr>
            <p:cNvSpPr/>
            <p:nvPr/>
          </p:nvSpPr>
          <p:spPr>
            <a:xfrm>
              <a:off x="1771650" y="2705100"/>
              <a:ext cx="2005677" cy="2130719"/>
            </a:xfrm>
            <a:custGeom>
              <a:avLst/>
              <a:gdLst/>
              <a:ahLst/>
              <a:cxnLst/>
              <a:rect l="0" t="0" r="0" b="0"/>
              <a:pathLst>
                <a:path w="2005677" h="2130719">
                  <a:moveTo>
                    <a:pt x="390525" y="0"/>
                  </a:moveTo>
                  <a:lnTo>
                    <a:pt x="781050" y="419100"/>
                  </a:lnTo>
                  <a:lnTo>
                    <a:pt x="609677" y="419100"/>
                  </a:lnTo>
                  <a:cubicBezTo>
                    <a:pt x="622043" y="570941"/>
                    <a:pt x="658009" y="720180"/>
                    <a:pt x="716494" y="861377"/>
                  </a:cubicBezTo>
                  <a:cubicBezTo>
                    <a:pt x="716775" y="862053"/>
                    <a:pt x="717056" y="862730"/>
                    <a:pt x="717338" y="863407"/>
                  </a:cubicBezTo>
                  <a:cubicBezTo>
                    <a:pt x="593581" y="906449"/>
                    <a:pt x="487420" y="987080"/>
                    <a:pt x="412525" y="1091630"/>
                  </a:cubicBezTo>
                  <a:cubicBezTo>
                    <a:pt x="398696" y="1062646"/>
                    <a:pt x="385613" y="1033271"/>
                    <a:pt x="373296" y="1003533"/>
                  </a:cubicBezTo>
                  <a:cubicBezTo>
                    <a:pt x="296132" y="817243"/>
                    <a:pt x="250246" y="619780"/>
                    <a:pt x="237222" y="419100"/>
                  </a:cubicBezTo>
                  <a:lnTo>
                    <a:pt x="0" y="419100"/>
                  </a:lnTo>
                  <a:lnTo>
                    <a:pt x="390525" y="0"/>
                  </a:lnTo>
                  <a:close/>
                  <a:moveTo>
                    <a:pt x="1293828" y="1965682"/>
                  </a:moveTo>
                  <a:cubicBezTo>
                    <a:pt x="1318347" y="1977133"/>
                    <a:pt x="1343141" y="1988052"/>
                    <a:pt x="1368191" y="1998428"/>
                  </a:cubicBezTo>
                  <a:cubicBezTo>
                    <a:pt x="1539487" y="2069381"/>
                    <a:pt x="1767854" y="2113888"/>
                    <a:pt x="1951857" y="2130719"/>
                  </a:cubicBezTo>
                  <a:lnTo>
                    <a:pt x="1781175" y="1971675"/>
                  </a:lnTo>
                  <a:lnTo>
                    <a:pt x="2005677" y="1762479"/>
                  </a:lnTo>
                  <a:cubicBezTo>
                    <a:pt x="1855232" y="1750789"/>
                    <a:pt x="1661657" y="1715937"/>
                    <a:pt x="1519536" y="1658974"/>
                  </a:cubicBezTo>
                  <a:cubicBezTo>
                    <a:pt x="1477502" y="1783171"/>
                    <a:pt x="1397712" y="1889961"/>
                    <a:pt x="1293828" y="1965682"/>
                  </a:cubicBezTo>
                  <a:close/>
                </a:path>
              </a:pathLst>
            </a:custGeom>
            <a:noFill/>
            <a:ln w="14287">
              <a:solidFill>
                <a:srgbClr val="3A726A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D7499B-8AC2-DBAB-30C9-DB9BA05F1CAB}"/>
              </a:ext>
            </a:extLst>
          </p:cNvPr>
          <p:cNvGrpSpPr/>
          <p:nvPr/>
        </p:nvGrpSpPr>
        <p:grpSpPr>
          <a:xfrm>
            <a:off x="5821186" y="3825265"/>
            <a:ext cx="2171700" cy="2005618"/>
            <a:chOff x="3552825" y="3061678"/>
            <a:chExt cx="2171700" cy="2005618"/>
          </a:xfrm>
        </p:grpSpPr>
        <p:sp>
          <p:nvSpPr>
            <p:cNvPr id="34" name="Rounded Rectangle 7">
              <a:extLst>
                <a:ext uri="{FF2B5EF4-FFF2-40B4-BE49-F238E27FC236}">
                  <a16:creationId xmlns:a16="http://schemas.microsoft.com/office/drawing/2014/main" id="{375EBA2D-90E0-2E0A-03D9-A8C2E3E4A55A}"/>
                </a:ext>
              </a:extLst>
            </p:cNvPr>
            <p:cNvSpPr/>
            <p:nvPr/>
          </p:nvSpPr>
          <p:spPr>
            <a:xfrm>
              <a:off x="4467225" y="3533771"/>
              <a:ext cx="1257300" cy="1257300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49"/>
                  </a:moveTo>
                  <a:cubicBezTo>
                    <a:pt x="0" y="975843"/>
                    <a:pt x="281456" y="1257300"/>
                    <a:pt x="628650" y="1257300"/>
                  </a:cubicBezTo>
                  <a:cubicBezTo>
                    <a:pt x="975843" y="1257300"/>
                    <a:pt x="1257300" y="975843"/>
                    <a:pt x="1257300" y="628650"/>
                  </a:cubicBezTo>
                  <a:cubicBezTo>
                    <a:pt x="1257300" y="281456"/>
                    <a:pt x="975843" y="0"/>
                    <a:pt x="628650" y="0"/>
                  </a:cubicBezTo>
                  <a:cubicBezTo>
                    <a:pt x="281456" y="0"/>
                    <a:pt x="0" y="281456"/>
                    <a:pt x="0" y="628650"/>
                  </a:cubicBezTo>
                </a:path>
              </a:pathLst>
            </a:custGeom>
            <a:noFill/>
            <a:ln w="14287">
              <a:solidFill>
                <a:srgbClr val="69A8A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ounded Rectangle 8">
              <a:extLst>
                <a:ext uri="{FF2B5EF4-FFF2-40B4-BE49-F238E27FC236}">
                  <a16:creationId xmlns:a16="http://schemas.microsoft.com/office/drawing/2014/main" id="{C988AA39-FE9B-69A7-1B3F-DF6CCCFEEF20}"/>
                </a:ext>
              </a:extLst>
            </p:cNvPr>
            <p:cNvSpPr/>
            <p:nvPr/>
          </p:nvSpPr>
          <p:spPr>
            <a:xfrm>
              <a:off x="3552825" y="3061678"/>
              <a:ext cx="2120118" cy="2005618"/>
            </a:xfrm>
            <a:custGeom>
              <a:avLst/>
              <a:gdLst/>
              <a:ahLst/>
              <a:cxnLst/>
              <a:rect l="0" t="0" r="0" b="0"/>
              <a:pathLst>
                <a:path w="2120118" h="2005618">
                  <a:moveTo>
                    <a:pt x="1971675" y="233968"/>
                  </a:moveTo>
                  <a:lnTo>
                    <a:pt x="2120118" y="74662"/>
                  </a:lnTo>
                  <a:cubicBezTo>
                    <a:pt x="2102517" y="254738"/>
                    <a:pt x="2058393" y="479187"/>
                    <a:pt x="1988903" y="646951"/>
                  </a:cubicBezTo>
                  <a:cubicBezTo>
                    <a:pt x="1987868" y="649449"/>
                    <a:pt x="1986828" y="651945"/>
                    <a:pt x="1985783" y="654437"/>
                  </a:cubicBezTo>
                  <a:cubicBezTo>
                    <a:pt x="1897253" y="566612"/>
                    <a:pt x="1782735" y="504945"/>
                    <a:pt x="1654783" y="481992"/>
                  </a:cubicBezTo>
                  <a:cubicBezTo>
                    <a:pt x="1709757" y="338437"/>
                    <a:pt x="1743054" y="148944"/>
                    <a:pt x="1753659" y="0"/>
                  </a:cubicBezTo>
                  <a:lnTo>
                    <a:pt x="1971675" y="233968"/>
                  </a:lnTo>
                  <a:close/>
                  <a:moveTo>
                    <a:pt x="935040" y="1261117"/>
                  </a:moveTo>
                  <a:cubicBezTo>
                    <a:pt x="907742" y="1274470"/>
                    <a:pt x="880000" y="1286989"/>
                    <a:pt x="851852" y="1298648"/>
                  </a:cubicBezTo>
                  <a:cubicBezTo>
                    <a:pt x="713609" y="1355910"/>
                    <a:pt x="567656" y="1391586"/>
                    <a:pt x="419100" y="1404659"/>
                  </a:cubicBezTo>
                  <a:lnTo>
                    <a:pt x="419100" y="1224568"/>
                  </a:lnTo>
                  <a:lnTo>
                    <a:pt x="0" y="1615093"/>
                  </a:lnTo>
                  <a:lnTo>
                    <a:pt x="419100" y="2005618"/>
                  </a:lnTo>
                  <a:lnTo>
                    <a:pt x="419100" y="1777278"/>
                  </a:lnTo>
                  <a:cubicBezTo>
                    <a:pt x="616501" y="1763436"/>
                    <a:pt x="810666" y="1717789"/>
                    <a:pt x="994008" y="1641847"/>
                  </a:cubicBezTo>
                  <a:cubicBezTo>
                    <a:pt x="1041316" y="1622251"/>
                    <a:pt x="1087708" y="1600720"/>
                    <a:pt x="1133071" y="1577326"/>
                  </a:cubicBezTo>
                  <a:cubicBezTo>
                    <a:pt x="1038124" y="1495574"/>
                    <a:pt x="967875" y="1385932"/>
                    <a:pt x="935040" y="1261117"/>
                  </a:cubicBezTo>
                  <a:close/>
                </a:path>
              </a:pathLst>
            </a:custGeom>
            <a:noFill/>
            <a:ln w="14287">
              <a:solidFill>
                <a:srgbClr val="69A8A1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D3D1A81-A52F-6E80-3C95-070134E700A4}"/>
              </a:ext>
            </a:extLst>
          </p:cNvPr>
          <p:cNvGrpSpPr/>
          <p:nvPr/>
        </p:nvGrpSpPr>
        <p:grpSpPr>
          <a:xfrm>
            <a:off x="6167600" y="1897063"/>
            <a:ext cx="2015790" cy="2162175"/>
            <a:chOff x="3899239" y="1133475"/>
            <a:chExt cx="2015790" cy="2162175"/>
          </a:xfrm>
          <a:solidFill>
            <a:schemeClr val="bg1"/>
          </a:solidFill>
        </p:grpSpPr>
        <p:sp>
          <p:nvSpPr>
            <p:cNvPr id="37" name="Rounded Rectangle 10">
              <a:extLst>
                <a:ext uri="{FF2B5EF4-FFF2-40B4-BE49-F238E27FC236}">
                  <a16:creationId xmlns:a16="http://schemas.microsoft.com/office/drawing/2014/main" id="{D48C8E60-F191-6A02-875C-8F7AF7441383}"/>
                </a:ext>
              </a:extLst>
            </p:cNvPr>
            <p:cNvSpPr/>
            <p:nvPr/>
          </p:nvSpPr>
          <p:spPr>
            <a:xfrm>
              <a:off x="4467223" y="1133475"/>
              <a:ext cx="1257300" cy="1257300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49"/>
                  </a:moveTo>
                  <a:cubicBezTo>
                    <a:pt x="0" y="975843"/>
                    <a:pt x="281456" y="1257300"/>
                    <a:pt x="628650" y="1257300"/>
                  </a:cubicBezTo>
                  <a:cubicBezTo>
                    <a:pt x="975843" y="1257300"/>
                    <a:pt x="1257300" y="975843"/>
                    <a:pt x="1257300" y="628650"/>
                  </a:cubicBezTo>
                  <a:cubicBezTo>
                    <a:pt x="1257300" y="281456"/>
                    <a:pt x="975843" y="0"/>
                    <a:pt x="628650" y="0"/>
                  </a:cubicBezTo>
                  <a:cubicBezTo>
                    <a:pt x="281456" y="0"/>
                    <a:pt x="0" y="281456"/>
                    <a:pt x="0" y="628650"/>
                  </a:cubicBezTo>
                </a:path>
              </a:pathLst>
            </a:custGeom>
            <a:grpFill/>
            <a:ln w="14287">
              <a:solidFill>
                <a:srgbClr val="62ADC4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ounded Rectangle 11">
              <a:extLst>
                <a:ext uri="{FF2B5EF4-FFF2-40B4-BE49-F238E27FC236}">
                  <a16:creationId xmlns:a16="http://schemas.microsoft.com/office/drawing/2014/main" id="{470292EF-B524-FF21-101D-D7EB1BBEDA3C}"/>
                </a:ext>
              </a:extLst>
            </p:cNvPr>
            <p:cNvSpPr/>
            <p:nvPr/>
          </p:nvSpPr>
          <p:spPr>
            <a:xfrm>
              <a:off x="3899239" y="1177840"/>
              <a:ext cx="2015790" cy="2117810"/>
            </a:xfrm>
            <a:custGeom>
              <a:avLst/>
              <a:gdLst/>
              <a:ahLst/>
              <a:cxnLst/>
              <a:rect l="0" t="0" r="0" b="0"/>
              <a:pathLst>
                <a:path w="2015790" h="2117810">
                  <a:moveTo>
                    <a:pt x="1612626" y="1055630"/>
                  </a:moveTo>
                  <a:cubicBezTo>
                    <a:pt x="1519966" y="1137469"/>
                    <a:pt x="1402989" y="1192410"/>
                    <a:pt x="1273918" y="1208231"/>
                  </a:cubicBezTo>
                  <a:cubicBezTo>
                    <a:pt x="1282781" y="1227272"/>
                    <a:pt x="1291243" y="1246518"/>
                    <a:pt x="1299295" y="1265959"/>
                  </a:cubicBezTo>
                  <a:cubicBezTo>
                    <a:pt x="1356558" y="1404201"/>
                    <a:pt x="1392233" y="1550153"/>
                    <a:pt x="1405306" y="1698710"/>
                  </a:cubicBezTo>
                  <a:lnTo>
                    <a:pt x="1234740" y="1698710"/>
                  </a:lnTo>
                  <a:lnTo>
                    <a:pt x="1625265" y="2117810"/>
                  </a:lnTo>
                  <a:lnTo>
                    <a:pt x="2015790" y="1698710"/>
                  </a:lnTo>
                  <a:lnTo>
                    <a:pt x="1777926" y="1698710"/>
                  </a:lnTo>
                  <a:cubicBezTo>
                    <a:pt x="1764084" y="1501307"/>
                    <a:pt x="1718437" y="1307144"/>
                    <a:pt x="1642494" y="1123800"/>
                  </a:cubicBezTo>
                  <a:cubicBezTo>
                    <a:pt x="1632990" y="1100857"/>
                    <a:pt x="1623032" y="1078129"/>
                    <a:pt x="1612626" y="1055630"/>
                  </a:cubicBezTo>
                  <a:close/>
                  <a:moveTo>
                    <a:pt x="728486" y="164713"/>
                  </a:moveTo>
                  <a:cubicBezTo>
                    <a:pt x="701842" y="152144"/>
                    <a:pt x="674873" y="140204"/>
                    <a:pt x="647599" y="128906"/>
                  </a:cubicBezTo>
                  <a:cubicBezTo>
                    <a:pt x="486741" y="62277"/>
                    <a:pt x="269930" y="18969"/>
                    <a:pt x="97535" y="0"/>
                  </a:cubicBezTo>
                  <a:lnTo>
                    <a:pt x="244140" y="136609"/>
                  </a:lnTo>
                  <a:lnTo>
                    <a:pt x="0" y="364104"/>
                  </a:lnTo>
                  <a:cubicBezTo>
                    <a:pt x="157196" y="375225"/>
                    <a:pt x="359432" y="411624"/>
                    <a:pt x="505442" y="472104"/>
                  </a:cubicBezTo>
                  <a:cubicBezTo>
                    <a:pt x="528335" y="481586"/>
                    <a:pt x="550960" y="491637"/>
                    <a:pt x="573295" y="502243"/>
                  </a:cubicBezTo>
                  <a:cubicBezTo>
                    <a:pt x="590088" y="373391"/>
                    <a:pt x="645900" y="256800"/>
                    <a:pt x="728486" y="164713"/>
                  </a:cubicBezTo>
                  <a:close/>
                </a:path>
              </a:pathLst>
            </a:custGeom>
            <a:grpFill/>
            <a:ln w="14287">
              <a:solidFill>
                <a:srgbClr val="62ADC4"/>
              </a:solidFill>
            </a:ln>
          </p:spPr>
          <p:txBody>
            <a:bodyPr rtlCol="0" anchor="ctr"/>
            <a:lstStyle/>
            <a:p>
              <a:pPr algn="ctr"/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D63C9DA-89E8-F1A1-41DD-58B3CC76B970}"/>
              </a:ext>
            </a:extLst>
          </p:cNvPr>
          <p:cNvSpPr txBox="1"/>
          <p:nvPr/>
        </p:nvSpPr>
        <p:spPr>
          <a:xfrm>
            <a:off x="2551929" y="2158999"/>
            <a:ext cx="153567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000" dirty="0">
                <a:solidFill>
                  <a:srgbClr val="DDA8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Close the Loop</a:t>
            </a:r>
          </a:p>
        </p:txBody>
      </p:sp>
      <p:sp>
        <p:nvSpPr>
          <p:cNvPr id="40" name="Rounded Rectangle 14">
            <a:extLst>
              <a:ext uri="{FF2B5EF4-FFF2-40B4-BE49-F238E27FC236}">
                <a16:creationId xmlns:a16="http://schemas.microsoft.com/office/drawing/2014/main" id="{69B31CBF-6520-1AFE-640D-FCC0F9B6B18B}"/>
              </a:ext>
            </a:extLst>
          </p:cNvPr>
          <p:cNvSpPr/>
          <p:nvPr/>
        </p:nvSpPr>
        <p:spPr>
          <a:xfrm>
            <a:off x="4713904" y="2275681"/>
            <a:ext cx="500062" cy="523851"/>
          </a:xfrm>
          <a:custGeom>
            <a:avLst/>
            <a:gdLst/>
            <a:ahLst/>
            <a:cxnLst/>
            <a:rect l="0" t="0" r="0" b="0"/>
            <a:pathLst>
              <a:path w="500062" h="523851">
                <a:moveTo>
                  <a:pt x="285750" y="428625"/>
                </a:moveTo>
                <a:lnTo>
                  <a:pt x="95250" y="428625"/>
                </a:lnTo>
                <a:cubicBezTo>
                  <a:pt x="42644" y="428625"/>
                  <a:pt x="0" y="385980"/>
                  <a:pt x="0" y="333375"/>
                </a:cubicBezTo>
                <a:lnTo>
                  <a:pt x="0" y="95250"/>
                </a:lnTo>
                <a:cubicBezTo>
                  <a:pt x="0" y="42644"/>
                  <a:pt x="42644" y="0"/>
                  <a:pt x="95250" y="0"/>
                </a:cubicBezTo>
                <a:lnTo>
                  <a:pt x="404812" y="0"/>
                </a:lnTo>
                <a:cubicBezTo>
                  <a:pt x="457417" y="0"/>
                  <a:pt x="500062" y="42644"/>
                  <a:pt x="500062" y="95250"/>
                </a:cubicBezTo>
                <a:lnTo>
                  <a:pt x="500062" y="166687"/>
                </a:lnTo>
                <a:moveTo>
                  <a:pt x="190500" y="523851"/>
                </a:moveTo>
                <a:lnTo>
                  <a:pt x="285750" y="428601"/>
                </a:lnTo>
                <a:lnTo>
                  <a:pt x="190500" y="333351"/>
                </a:lnTo>
                <a:moveTo>
                  <a:pt x="285750" y="523851"/>
                </a:moveTo>
                <a:lnTo>
                  <a:pt x="381000" y="428601"/>
                </a:lnTo>
                <a:lnTo>
                  <a:pt x="285750" y="333351"/>
                </a:lnTo>
              </a:path>
            </a:pathLst>
          </a:custGeom>
          <a:noFill/>
          <a:ln w="14287">
            <a:solidFill>
              <a:srgbClr val="DDA831"/>
            </a:solidFill>
          </a:ln>
        </p:spPr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ounded Rectangle 15">
            <a:extLst>
              <a:ext uri="{FF2B5EF4-FFF2-40B4-BE49-F238E27FC236}">
                <a16:creationId xmlns:a16="http://schemas.microsoft.com/office/drawing/2014/main" id="{35FF081F-61A7-0FA6-6422-B6AB022C18A7}"/>
              </a:ext>
            </a:extLst>
          </p:cNvPr>
          <p:cNvSpPr/>
          <p:nvPr/>
        </p:nvSpPr>
        <p:spPr>
          <a:xfrm>
            <a:off x="7114204" y="2251869"/>
            <a:ext cx="500062" cy="547687"/>
          </a:xfrm>
          <a:custGeom>
            <a:avLst/>
            <a:gdLst/>
            <a:ahLst/>
            <a:cxnLst/>
            <a:rect l="0" t="0" r="0" b="0"/>
            <a:pathLst>
              <a:path w="500062" h="547687">
                <a:moveTo>
                  <a:pt x="226218" y="285750"/>
                </a:moveTo>
                <a:cubicBezTo>
                  <a:pt x="147311" y="285750"/>
                  <a:pt x="83343" y="221782"/>
                  <a:pt x="83343" y="142875"/>
                </a:cubicBezTo>
                <a:cubicBezTo>
                  <a:pt x="83343" y="63967"/>
                  <a:pt x="147311" y="0"/>
                  <a:pt x="226218" y="0"/>
                </a:cubicBezTo>
                <a:close/>
                <a:moveTo>
                  <a:pt x="0" y="547687"/>
                </a:moveTo>
                <a:cubicBezTo>
                  <a:pt x="0" y="422750"/>
                  <a:pt x="101281" y="321468"/>
                  <a:pt x="226218" y="321468"/>
                </a:cubicBezTo>
                <a:lnTo>
                  <a:pt x="226218" y="547687"/>
                </a:lnTo>
                <a:close/>
                <a:moveTo>
                  <a:pt x="273843" y="285750"/>
                </a:moveTo>
                <a:cubicBezTo>
                  <a:pt x="281827" y="285702"/>
                  <a:pt x="289792" y="284985"/>
                  <a:pt x="297656" y="283606"/>
                </a:cubicBezTo>
                <a:lnTo>
                  <a:pt x="297656" y="247173"/>
                </a:lnTo>
                <a:cubicBezTo>
                  <a:pt x="309368" y="244486"/>
                  <a:pt x="320537" y="239824"/>
                  <a:pt x="330684" y="233386"/>
                </a:cubicBezTo>
                <a:lnTo>
                  <a:pt x="356544" y="259246"/>
                </a:lnTo>
                <a:cubicBezTo>
                  <a:pt x="369570" y="249983"/>
                  <a:pt x="380951" y="238601"/>
                  <a:pt x="390215" y="225575"/>
                </a:cubicBezTo>
                <a:lnTo>
                  <a:pt x="364331" y="199715"/>
                </a:lnTo>
                <a:cubicBezTo>
                  <a:pt x="370777" y="189570"/>
                  <a:pt x="375448" y="178401"/>
                  <a:pt x="378142" y="166687"/>
                </a:cubicBezTo>
                <a:lnTo>
                  <a:pt x="414575" y="166687"/>
                </a:lnTo>
                <a:cubicBezTo>
                  <a:pt x="415954" y="158823"/>
                  <a:pt x="416670" y="150858"/>
                  <a:pt x="416718" y="142875"/>
                </a:cubicBezTo>
                <a:cubicBezTo>
                  <a:pt x="416670" y="134891"/>
                  <a:pt x="415954" y="126926"/>
                  <a:pt x="414575" y="119062"/>
                </a:cubicBezTo>
                <a:lnTo>
                  <a:pt x="378142" y="119062"/>
                </a:lnTo>
                <a:cubicBezTo>
                  <a:pt x="375448" y="107348"/>
                  <a:pt x="370777" y="96179"/>
                  <a:pt x="364331" y="86034"/>
                </a:cubicBezTo>
                <a:lnTo>
                  <a:pt x="390191" y="60174"/>
                </a:lnTo>
                <a:cubicBezTo>
                  <a:pt x="380928" y="47148"/>
                  <a:pt x="369546" y="35766"/>
                  <a:pt x="356520" y="26503"/>
                </a:cubicBezTo>
                <a:lnTo>
                  <a:pt x="330684" y="52387"/>
                </a:lnTo>
                <a:cubicBezTo>
                  <a:pt x="320539" y="45941"/>
                  <a:pt x="309370" y="41270"/>
                  <a:pt x="297656" y="38576"/>
                </a:cubicBezTo>
                <a:lnTo>
                  <a:pt x="297656" y="2143"/>
                </a:lnTo>
                <a:cubicBezTo>
                  <a:pt x="289792" y="764"/>
                  <a:pt x="281827" y="47"/>
                  <a:pt x="273843" y="0"/>
                </a:cubicBezTo>
                <a:moveTo>
                  <a:pt x="273843" y="95250"/>
                </a:moveTo>
                <a:cubicBezTo>
                  <a:pt x="300146" y="95250"/>
                  <a:pt x="321468" y="116572"/>
                  <a:pt x="321468" y="142875"/>
                </a:cubicBezTo>
                <a:cubicBezTo>
                  <a:pt x="321468" y="169177"/>
                  <a:pt x="300146" y="190500"/>
                  <a:pt x="273843" y="190500"/>
                </a:cubicBezTo>
                <a:moveTo>
                  <a:pt x="500062" y="547687"/>
                </a:moveTo>
                <a:cubicBezTo>
                  <a:pt x="499976" y="535718"/>
                  <a:pt x="498941" y="523774"/>
                  <a:pt x="496966" y="511968"/>
                </a:cubicBezTo>
                <a:lnTo>
                  <a:pt x="448841" y="511968"/>
                </a:lnTo>
                <a:cubicBezTo>
                  <a:pt x="445660" y="496520"/>
                  <a:pt x="440422" y="481567"/>
                  <a:pt x="433268" y="467510"/>
                </a:cubicBezTo>
                <a:lnTo>
                  <a:pt x="468296" y="432506"/>
                </a:lnTo>
                <a:cubicBezTo>
                  <a:pt x="451910" y="404859"/>
                  <a:pt x="429841" y="381005"/>
                  <a:pt x="403550" y="362521"/>
                </a:cubicBezTo>
                <a:lnTo>
                  <a:pt x="369212" y="396882"/>
                </a:lnTo>
                <a:cubicBezTo>
                  <a:pt x="354473" y="387507"/>
                  <a:pt x="338423" y="380372"/>
                  <a:pt x="321587" y="375713"/>
                </a:cubicBezTo>
                <a:lnTo>
                  <a:pt x="321587" y="326588"/>
                </a:lnTo>
                <a:cubicBezTo>
                  <a:pt x="305898" y="323200"/>
                  <a:pt x="289894" y="321484"/>
                  <a:pt x="273843" y="321468"/>
                </a:cubicBezTo>
                <a:moveTo>
                  <a:pt x="273843" y="452437"/>
                </a:moveTo>
                <a:cubicBezTo>
                  <a:pt x="326448" y="452437"/>
                  <a:pt x="369093" y="495082"/>
                  <a:pt x="369093" y="547687"/>
                </a:cubicBezTo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C5A63-5BD1-F512-8721-FB3109A0D61A}"/>
              </a:ext>
            </a:extLst>
          </p:cNvPr>
          <p:cNvSpPr txBox="1"/>
          <p:nvPr/>
        </p:nvSpPr>
        <p:spPr>
          <a:xfrm>
            <a:off x="8240536" y="1930400"/>
            <a:ext cx="1821717" cy="6155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dirty="0">
                <a:solidFill>
                  <a:srgbClr val="62AD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 Ontology as
Hyperparameter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FDF2CF-E6D1-1CB1-DE24-B033C3329373}"/>
              </a:ext>
            </a:extLst>
          </p:cNvPr>
          <p:cNvSpPr txBox="1"/>
          <p:nvPr/>
        </p:nvSpPr>
        <p:spPr>
          <a:xfrm>
            <a:off x="2282313" y="2625129"/>
            <a:ext cx="1805302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dirty="0">
                <a:solidFill>
                  <a:srgbClr val="4848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evaluation results to
refine construction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C300F1-01F3-A358-FCB6-03652EFA91C2}"/>
              </a:ext>
            </a:extLst>
          </p:cNvPr>
          <p:cNvSpPr txBox="1"/>
          <p:nvPr/>
        </p:nvSpPr>
        <p:spPr>
          <a:xfrm>
            <a:off x="8240515" y="2625129"/>
            <a:ext cx="1793440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4848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 ontology settings
for optimal performance</a:t>
            </a: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1464AF18-E776-3F05-F697-9B49BAD2C425}"/>
              </a:ext>
            </a:extLst>
          </p:cNvPr>
          <p:cNvSpPr/>
          <p:nvPr/>
        </p:nvSpPr>
        <p:spPr>
          <a:xfrm>
            <a:off x="4678186" y="4640262"/>
            <a:ext cx="553640" cy="553640"/>
          </a:xfrm>
          <a:custGeom>
            <a:avLst/>
            <a:gdLst/>
            <a:ahLst/>
            <a:cxnLst/>
            <a:rect l="0" t="0" r="0" b="0"/>
            <a:pathLst>
              <a:path w="553640" h="553640">
                <a:moveTo>
                  <a:pt x="101203" y="353615"/>
                </a:moveTo>
                <a:cubicBezTo>
                  <a:pt x="101203" y="339328"/>
                  <a:pt x="91678" y="329803"/>
                  <a:pt x="77390" y="329803"/>
                </a:cubicBezTo>
                <a:lnTo>
                  <a:pt x="41672" y="329803"/>
                </a:lnTo>
                <a:cubicBezTo>
                  <a:pt x="27384" y="329803"/>
                  <a:pt x="17859" y="339328"/>
                  <a:pt x="17859" y="353615"/>
                </a:cubicBezTo>
                <a:lnTo>
                  <a:pt x="17859" y="425053"/>
                </a:lnTo>
                <a:cubicBezTo>
                  <a:pt x="17859" y="439340"/>
                  <a:pt x="27384" y="448865"/>
                  <a:pt x="41672" y="448865"/>
                </a:cubicBezTo>
                <a:lnTo>
                  <a:pt x="77390" y="448865"/>
                </a:lnTo>
                <a:cubicBezTo>
                  <a:pt x="91678" y="448865"/>
                  <a:pt x="101203" y="439340"/>
                  <a:pt x="101203" y="425053"/>
                </a:cubicBezTo>
                <a:lnTo>
                  <a:pt x="101203" y="353615"/>
                </a:lnTo>
                <a:close/>
                <a:moveTo>
                  <a:pt x="59531" y="448865"/>
                </a:moveTo>
                <a:lnTo>
                  <a:pt x="59531" y="553640"/>
                </a:lnTo>
                <a:moveTo>
                  <a:pt x="59531" y="329803"/>
                </a:moveTo>
                <a:lnTo>
                  <a:pt x="59531" y="258365"/>
                </a:lnTo>
                <a:moveTo>
                  <a:pt x="232172" y="136921"/>
                </a:moveTo>
                <a:cubicBezTo>
                  <a:pt x="232172" y="122634"/>
                  <a:pt x="222647" y="113109"/>
                  <a:pt x="208359" y="113109"/>
                </a:cubicBezTo>
                <a:lnTo>
                  <a:pt x="172640" y="113109"/>
                </a:lnTo>
                <a:cubicBezTo>
                  <a:pt x="158353" y="113109"/>
                  <a:pt x="148828" y="122634"/>
                  <a:pt x="148828" y="136921"/>
                </a:cubicBezTo>
                <a:lnTo>
                  <a:pt x="148828" y="244078"/>
                </a:lnTo>
                <a:cubicBezTo>
                  <a:pt x="148828" y="258365"/>
                  <a:pt x="158353" y="267890"/>
                  <a:pt x="172640" y="267890"/>
                </a:cubicBezTo>
                <a:lnTo>
                  <a:pt x="208359" y="267890"/>
                </a:lnTo>
                <a:cubicBezTo>
                  <a:pt x="222647" y="267890"/>
                  <a:pt x="232172" y="258365"/>
                  <a:pt x="232172" y="244078"/>
                </a:cubicBezTo>
                <a:lnTo>
                  <a:pt x="232172" y="136921"/>
                </a:lnTo>
                <a:close/>
                <a:moveTo>
                  <a:pt x="190500" y="267890"/>
                </a:moveTo>
                <a:lnTo>
                  <a:pt x="190500" y="339328"/>
                </a:lnTo>
                <a:moveTo>
                  <a:pt x="190500" y="113109"/>
                </a:moveTo>
                <a:lnTo>
                  <a:pt x="190500" y="17859"/>
                </a:lnTo>
                <a:moveTo>
                  <a:pt x="394096" y="170259"/>
                </a:moveTo>
                <a:cubicBezTo>
                  <a:pt x="394096" y="155971"/>
                  <a:pt x="384571" y="146446"/>
                  <a:pt x="370284" y="146446"/>
                </a:cubicBezTo>
                <a:lnTo>
                  <a:pt x="334565" y="146446"/>
                </a:lnTo>
                <a:cubicBezTo>
                  <a:pt x="320278" y="146446"/>
                  <a:pt x="310753" y="155971"/>
                  <a:pt x="310753" y="170259"/>
                </a:cubicBezTo>
                <a:lnTo>
                  <a:pt x="310753" y="265509"/>
                </a:lnTo>
                <a:cubicBezTo>
                  <a:pt x="310753" y="279796"/>
                  <a:pt x="320278" y="289321"/>
                  <a:pt x="334565" y="289321"/>
                </a:cubicBezTo>
                <a:lnTo>
                  <a:pt x="370284" y="289321"/>
                </a:lnTo>
                <a:cubicBezTo>
                  <a:pt x="384571" y="289321"/>
                  <a:pt x="394096" y="279796"/>
                  <a:pt x="394096" y="265509"/>
                </a:cubicBezTo>
                <a:lnTo>
                  <a:pt x="394096" y="170259"/>
                </a:lnTo>
                <a:close/>
                <a:moveTo>
                  <a:pt x="352425" y="146446"/>
                </a:moveTo>
                <a:lnTo>
                  <a:pt x="352425" y="51196"/>
                </a:lnTo>
                <a:moveTo>
                  <a:pt x="0" y="0"/>
                </a:moveTo>
                <a:moveTo>
                  <a:pt x="410765" y="408384"/>
                </a:moveTo>
                <a:lnTo>
                  <a:pt x="482203" y="494109"/>
                </a:lnTo>
                <a:lnTo>
                  <a:pt x="553640" y="408384"/>
                </a:lnTo>
                <a:moveTo>
                  <a:pt x="482203" y="494109"/>
                </a:moveTo>
                <a:lnTo>
                  <a:pt x="482203" y="122634"/>
                </a:lnTo>
              </a:path>
            </a:pathLst>
          </a:custGeom>
          <a:noFill/>
          <a:ln w="14287">
            <a:solidFill>
              <a:srgbClr val="3A726A"/>
            </a:solidFill>
          </a:ln>
        </p:spPr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4C0059FC-E383-1C73-0F1F-53F4F211E853}"/>
              </a:ext>
            </a:extLst>
          </p:cNvPr>
          <p:cNvSpPr/>
          <p:nvPr/>
        </p:nvSpPr>
        <p:spPr>
          <a:xfrm>
            <a:off x="7090393" y="4652168"/>
            <a:ext cx="547687" cy="547692"/>
          </a:xfrm>
          <a:custGeom>
            <a:avLst/>
            <a:gdLst/>
            <a:ahLst/>
            <a:cxnLst/>
            <a:rect l="0" t="0" r="0" b="0"/>
            <a:pathLst>
              <a:path w="547687" h="547692">
                <a:moveTo>
                  <a:pt x="23812" y="0"/>
                </a:moveTo>
                <a:lnTo>
                  <a:pt x="214312" y="0"/>
                </a:lnTo>
                <a:cubicBezTo>
                  <a:pt x="214312" y="0"/>
                  <a:pt x="238125" y="0"/>
                  <a:pt x="238125" y="23812"/>
                </a:cubicBezTo>
                <a:lnTo>
                  <a:pt x="238125" y="214312"/>
                </a:lnTo>
                <a:cubicBezTo>
                  <a:pt x="238125" y="214312"/>
                  <a:pt x="238125" y="238125"/>
                  <a:pt x="214312" y="238125"/>
                </a:cubicBezTo>
                <a:lnTo>
                  <a:pt x="23812" y="238125"/>
                </a:lnTo>
                <a:cubicBezTo>
                  <a:pt x="23812" y="238125"/>
                  <a:pt x="0" y="238125"/>
                  <a:pt x="0" y="214312"/>
                </a:cubicBezTo>
                <a:lnTo>
                  <a:pt x="0" y="23812"/>
                </a:lnTo>
                <a:cubicBezTo>
                  <a:pt x="0" y="23812"/>
                  <a:pt x="0" y="0"/>
                  <a:pt x="23812" y="0"/>
                </a:cubicBezTo>
                <a:moveTo>
                  <a:pt x="141136" y="536447"/>
                </a:moveTo>
                <a:cubicBezTo>
                  <a:pt x="136001" y="543512"/>
                  <a:pt x="127796" y="547692"/>
                  <a:pt x="119062" y="547692"/>
                </a:cubicBezTo>
                <a:cubicBezTo>
                  <a:pt x="110329" y="547692"/>
                  <a:pt x="102123" y="543512"/>
                  <a:pt x="96988" y="536448"/>
                </a:cubicBezTo>
                <a:lnTo>
                  <a:pt x="21597" y="432768"/>
                </a:lnTo>
                <a:cubicBezTo>
                  <a:pt x="14617" y="423207"/>
                  <a:pt x="14617" y="410230"/>
                  <a:pt x="21597" y="400669"/>
                </a:cubicBezTo>
                <a:lnTo>
                  <a:pt x="96988" y="296989"/>
                </a:lnTo>
                <a:cubicBezTo>
                  <a:pt x="102123" y="289924"/>
                  <a:pt x="110329" y="285744"/>
                  <a:pt x="119062" y="285744"/>
                </a:cubicBezTo>
                <a:cubicBezTo>
                  <a:pt x="127796" y="285744"/>
                  <a:pt x="136001" y="289924"/>
                  <a:pt x="141136" y="296989"/>
                </a:cubicBezTo>
                <a:lnTo>
                  <a:pt x="216527" y="400669"/>
                </a:lnTo>
                <a:cubicBezTo>
                  <a:pt x="223507" y="410230"/>
                  <a:pt x="223507" y="423207"/>
                  <a:pt x="216527" y="432768"/>
                </a:cubicBezTo>
                <a:close/>
                <a:moveTo>
                  <a:pt x="309562" y="119062"/>
                </a:moveTo>
                <a:cubicBezTo>
                  <a:pt x="309562" y="184818"/>
                  <a:pt x="362868" y="238125"/>
                  <a:pt x="428625" y="238125"/>
                </a:cubicBezTo>
                <a:cubicBezTo>
                  <a:pt x="494381" y="238125"/>
                  <a:pt x="547687" y="184818"/>
                  <a:pt x="547687" y="119062"/>
                </a:cubicBezTo>
                <a:cubicBezTo>
                  <a:pt x="547687" y="53306"/>
                  <a:pt x="494381" y="0"/>
                  <a:pt x="428625" y="0"/>
                </a:cubicBezTo>
                <a:cubicBezTo>
                  <a:pt x="362868" y="0"/>
                  <a:pt x="309562" y="53306"/>
                  <a:pt x="309562" y="119062"/>
                </a:cubicBezTo>
                <a:moveTo>
                  <a:pt x="413408" y="320444"/>
                </a:moveTo>
                <a:cubicBezTo>
                  <a:pt x="409125" y="313192"/>
                  <a:pt x="401328" y="308743"/>
                  <a:pt x="392906" y="308743"/>
                </a:cubicBezTo>
                <a:cubicBezTo>
                  <a:pt x="384483" y="308743"/>
                  <a:pt x="376687" y="313192"/>
                  <a:pt x="372403" y="320444"/>
                </a:cubicBezTo>
                <a:lnTo>
                  <a:pt x="259365" y="511754"/>
                </a:lnTo>
                <a:cubicBezTo>
                  <a:pt x="255014" y="519112"/>
                  <a:pt x="254941" y="528238"/>
                  <a:pt x="259174" y="535665"/>
                </a:cubicBezTo>
                <a:cubicBezTo>
                  <a:pt x="263406" y="543092"/>
                  <a:pt x="271296" y="547680"/>
                  <a:pt x="279844" y="547687"/>
                </a:cubicBezTo>
                <a:lnTo>
                  <a:pt x="506063" y="547687"/>
                </a:lnTo>
                <a:cubicBezTo>
                  <a:pt x="514611" y="547680"/>
                  <a:pt x="522500" y="543092"/>
                  <a:pt x="526733" y="535665"/>
                </a:cubicBezTo>
                <a:cubicBezTo>
                  <a:pt x="530966" y="528238"/>
                  <a:pt x="530893" y="519112"/>
                  <a:pt x="526541" y="511754"/>
                </a:cubicBezTo>
                <a:close/>
              </a:path>
            </a:pathLst>
          </a:custGeom>
          <a:noFill/>
          <a:ln w="14287">
            <a:solidFill>
              <a:srgbClr val="69A8A1"/>
            </a:solidFill>
          </a:ln>
        </p:spPr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75C3DF-4D0F-6720-721E-7776637E0324}"/>
              </a:ext>
            </a:extLst>
          </p:cNvPr>
          <p:cNvSpPr txBox="1"/>
          <p:nvPr/>
        </p:nvSpPr>
        <p:spPr>
          <a:xfrm>
            <a:off x="2743565" y="4673600"/>
            <a:ext cx="1344022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000" dirty="0">
                <a:solidFill>
                  <a:srgbClr val="3A72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Evaluate
Downstream
Performance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8DEF92-92F9-214F-33F0-00DF2BCE06F4}"/>
              </a:ext>
            </a:extLst>
          </p:cNvPr>
          <p:cNvSpPr txBox="1"/>
          <p:nvPr/>
        </p:nvSpPr>
        <p:spPr>
          <a:xfrm>
            <a:off x="8240536" y="4673600"/>
            <a:ext cx="1313308" cy="6155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dirty="0">
                <a:solidFill>
                  <a:srgbClr val="69A8A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 KG
Variants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B926EB-4FB0-0732-E21A-2CF68E3401BD}"/>
              </a:ext>
            </a:extLst>
          </p:cNvPr>
          <p:cNvSpPr txBox="1"/>
          <p:nvPr/>
        </p:nvSpPr>
        <p:spPr>
          <a:xfrm>
            <a:off x="8240515" y="5368329"/>
            <a:ext cx="176856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4848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multiple versions
of the knowledge graph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C68748-41F3-D3CC-7647-370600009CC8}"/>
              </a:ext>
            </a:extLst>
          </p:cNvPr>
          <p:cNvSpPr txBox="1"/>
          <p:nvPr/>
        </p:nvSpPr>
        <p:spPr>
          <a:xfrm>
            <a:off x="2321013" y="5596930"/>
            <a:ext cx="1766574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dirty="0">
                <a:solidFill>
                  <a:srgbClr val="4848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 graph
effectiveness on specific
tasks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C4F31-4194-BDF1-084C-ACC03051012A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6" name="Picture 5" descr="Strona główna | Szkolenia WNE UW">
            <a:extLst>
              <a:ext uri="{FF2B5EF4-FFF2-40B4-BE49-F238E27FC236}">
                <a16:creationId xmlns:a16="http://schemas.microsoft.com/office/drawing/2014/main" id="{DA1C7962-D333-8FF5-B7F7-053CD2706A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4777D3-916E-5257-F9DC-41ECF2B22CF2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355B44-8394-B19A-A966-12C3784BA811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4110137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A84D5-0FDD-1C91-1CE6-B45C8DFC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0ACCA4D1-1C1F-D74F-9FCF-6F3DDC30E1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32BA12FE-1DE4-88B9-A988-65EEF59FC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083" y="927654"/>
            <a:ext cx="8473833" cy="564922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E34D2E-7EAD-DA47-7C98-BEE941B7E45C}"/>
              </a:ext>
            </a:extLst>
          </p:cNvPr>
          <p:cNvSpPr/>
          <p:nvPr/>
        </p:nvSpPr>
        <p:spPr>
          <a:xfrm>
            <a:off x="6976533" y="3616230"/>
            <a:ext cx="397932" cy="272073"/>
          </a:xfrm>
          <a:prstGeom prst="round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29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651774D-E43F-F40C-2FA9-03B69E1C4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5A45AD89-7BDD-2F98-20D3-669697735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8AC1FE14-43EC-2D14-912A-3E65F2E98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0D96D6-B85C-0EC9-D1B9-4F33DB5D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5695"/>
            <a:ext cx="10210800" cy="11430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>
                <a:solidFill>
                  <a:srgbClr val="C00000"/>
                </a:solidFill>
              </a:rPr>
              <a:t>Application</a:t>
            </a:r>
            <a:r>
              <a:rPr lang="pl-PL" dirty="0">
                <a:solidFill>
                  <a:srgbClr val="C00000"/>
                </a:solidFill>
              </a:rPr>
              <a:t>: </a:t>
            </a:r>
            <a:r>
              <a:rPr lang="pl-PL" dirty="0" err="1">
                <a:solidFill>
                  <a:srgbClr val="C00000"/>
                </a:solidFill>
              </a:rPr>
              <a:t>Task-aware</a:t>
            </a:r>
            <a:r>
              <a:rPr lang="pl-PL" dirty="0">
                <a:solidFill>
                  <a:srgbClr val="C00000"/>
                </a:solidFill>
              </a:rPr>
              <a:t> KG </a:t>
            </a:r>
            <a:r>
              <a:rPr lang="pl-PL" dirty="0" err="1">
                <a:solidFill>
                  <a:srgbClr val="C00000"/>
                </a:solidFill>
              </a:rPr>
              <a:t>based</a:t>
            </a:r>
            <a:r>
              <a:rPr lang="pl-PL" dirty="0">
                <a:solidFill>
                  <a:srgbClr val="C00000"/>
                </a:solidFill>
              </a:rPr>
              <a:t> on </a:t>
            </a:r>
            <a:r>
              <a:rPr dirty="0">
                <a:solidFill>
                  <a:srgbClr val="C00000"/>
                </a:solidFill>
              </a:rPr>
              <a:t>Financial News</a:t>
            </a:r>
          </a:p>
        </p:txBody>
      </p:sp>
      <p:pic>
        <p:nvPicPr>
          <p:cNvPr id="6146" name="Picture 2" descr="Neo4j icon - Free Download PNG &amp; SVG | Streamline">
            <a:extLst>
              <a:ext uri="{FF2B5EF4-FFF2-40B4-BE49-F238E27FC236}">
                <a16:creationId xmlns:a16="http://schemas.microsoft.com/office/drawing/2014/main" id="{EDCD7E6C-48A8-EE63-B2CD-AF4E9FAEC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242" y="3585008"/>
            <a:ext cx="334514" cy="33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5C9C08-4AE1-9902-B2A4-E0A1AB3CF3E5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F0B45-537B-E3DC-8795-28EFE087D9FB}"/>
              </a:ext>
            </a:extLst>
          </p:cNvPr>
          <p:cNvSpPr/>
          <p:nvPr/>
        </p:nvSpPr>
        <p:spPr>
          <a:xfrm>
            <a:off x="0" y="652157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08A48C-774F-B647-A8B3-369F1460C4F8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05715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6430C-6CFB-E414-D5A6-F2716E76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CC40-0537-9249-5CE2-BB73ACAE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5695"/>
            <a:ext cx="1021080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 err="1">
                <a:solidFill>
                  <a:srgbClr val="C00000"/>
                </a:solidFill>
              </a:rPr>
              <a:t>Detailed</a:t>
            </a:r>
            <a:r>
              <a:rPr lang="pl-PL" dirty="0">
                <a:solidFill>
                  <a:srgbClr val="C00000"/>
                </a:solidFill>
              </a:rPr>
              <a:t> Processing </a:t>
            </a:r>
            <a:r>
              <a:rPr lang="pl-PL" dirty="0" err="1">
                <a:solidFill>
                  <a:srgbClr val="C00000"/>
                </a:solidFill>
              </a:rPr>
              <a:t>Pipeline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D1162-1941-A7B4-75C3-65A19BA11099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AB983C30-11AC-93FF-BCDC-E17A2D63A6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E7AA47-10EB-DC90-CD9C-167697E137F6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DB1701-9CD9-5498-9178-BFDB2998C350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  <p:sp>
        <p:nvSpPr>
          <p:cNvPr id="14" name="AutoShape 4" descr="Przesłany obraz">
            <a:extLst>
              <a:ext uri="{FF2B5EF4-FFF2-40B4-BE49-F238E27FC236}">
                <a16:creationId xmlns:a16="http://schemas.microsoft.com/office/drawing/2014/main" id="{F8CF17B8-CDCC-6C30-B5DC-EC1A55C46D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L"/>
          </a:p>
        </p:txBody>
      </p:sp>
      <p:sp>
        <p:nvSpPr>
          <p:cNvPr id="15" name="AutoShape 6" descr="Procesy tworzenia i oceny grafu wiedzy">
            <a:extLst>
              <a:ext uri="{FF2B5EF4-FFF2-40B4-BE49-F238E27FC236}">
                <a16:creationId xmlns:a16="http://schemas.microsoft.com/office/drawing/2014/main" id="{6CEAED16-2554-E82B-E434-6C80F2DB3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L"/>
          </a:p>
        </p:txBody>
      </p:sp>
      <p:pic>
        <p:nvPicPr>
          <p:cNvPr id="22" name="Picture 21" descr="A diagram of a graph&#10;&#10;AI-generated content may be incorrect.">
            <a:extLst>
              <a:ext uri="{FF2B5EF4-FFF2-40B4-BE49-F238E27FC236}">
                <a16:creationId xmlns:a16="http://schemas.microsoft.com/office/drawing/2014/main" id="{EDB826CE-E360-84F3-83DB-870846555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706" y="1308054"/>
            <a:ext cx="8740588" cy="424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94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3B772E-E3F3-1AA9-C370-640DC1A9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</a:t>
            </a:r>
            <a:r>
              <a:rPr lang="pl-PL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Hypotheses</a:t>
            </a:r>
            <a:endParaRPr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CC71D-C083-7D21-E95D-4DEE3C67F9D7}"/>
              </a:ext>
            </a:extLst>
          </p:cNvPr>
          <p:cNvSpPr/>
          <p:nvPr/>
        </p:nvSpPr>
        <p:spPr>
          <a:xfrm>
            <a:off x="1044389" y="4401477"/>
            <a:ext cx="10119360" cy="77595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2300" b="1" dirty="0">
                <a:solidFill>
                  <a:schemeClr val="tx1"/>
                </a:solidFill>
              </a:rPr>
              <a:t>	</a:t>
            </a:r>
            <a:r>
              <a:rPr lang="pl-PL" sz="2300" b="1" dirty="0" err="1">
                <a:solidFill>
                  <a:schemeClr val="tx1"/>
                </a:solidFill>
              </a:rPr>
              <a:t>Hypothesis</a:t>
            </a:r>
            <a:r>
              <a:rPr lang="pl-PL" sz="2300" b="1" dirty="0">
                <a:solidFill>
                  <a:schemeClr val="tx1"/>
                </a:solidFill>
              </a:rPr>
              <a:t> 3 : </a:t>
            </a:r>
            <a:r>
              <a:rPr lang="en-GB" sz="2300" dirty="0">
                <a:solidFill>
                  <a:schemeClr val="tx1"/>
                </a:solidFill>
              </a:rPr>
              <a:t>Iterative, task-driven construction produces more informative 	graph structures and facilitates the identification of effective ontologies.</a:t>
            </a:r>
            <a:endParaRPr lang="pl-PL" sz="23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08303-5643-6D54-9EC8-BBFAFA06C4B5}"/>
              </a:ext>
            </a:extLst>
          </p:cNvPr>
          <p:cNvSpPr/>
          <p:nvPr/>
        </p:nvSpPr>
        <p:spPr>
          <a:xfrm>
            <a:off x="1044389" y="4401477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l-PL" sz="23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3674E4-CB7A-3FCA-0135-8126D42D9CE2}"/>
              </a:ext>
            </a:extLst>
          </p:cNvPr>
          <p:cNvSpPr/>
          <p:nvPr/>
        </p:nvSpPr>
        <p:spPr>
          <a:xfrm>
            <a:off x="1044389" y="3219929"/>
            <a:ext cx="10119360" cy="77595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2300" b="1" dirty="0">
                <a:solidFill>
                  <a:schemeClr val="tx1"/>
                </a:solidFill>
              </a:rPr>
              <a:t>	</a:t>
            </a:r>
            <a:r>
              <a:rPr lang="pl-PL" sz="2300" b="1" dirty="0" err="1">
                <a:solidFill>
                  <a:schemeClr val="tx1"/>
                </a:solidFill>
              </a:rPr>
              <a:t>Hypothesis</a:t>
            </a:r>
            <a:r>
              <a:rPr lang="pl-PL" sz="2300" b="1" dirty="0">
                <a:solidFill>
                  <a:schemeClr val="tx1"/>
                </a:solidFill>
              </a:rPr>
              <a:t> 2: </a:t>
            </a:r>
            <a:r>
              <a:rPr lang="en-GB" sz="2300" dirty="0">
                <a:solidFill>
                  <a:schemeClr val="tx1"/>
                </a:solidFill>
              </a:rPr>
              <a:t>Task-aware optimization enables smaller knowledge graphs while 	maintaining or improving downstream task performance.</a:t>
            </a:r>
            <a:endParaRPr lang="en-PL" sz="23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DFA5B-A5BA-2BB6-27EB-AD1A0B56CA3D}"/>
              </a:ext>
            </a:extLst>
          </p:cNvPr>
          <p:cNvSpPr/>
          <p:nvPr/>
        </p:nvSpPr>
        <p:spPr>
          <a:xfrm>
            <a:off x="1044389" y="3219929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l-PL" sz="23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FF7456-D8E7-19A7-A524-CED503C2508B}"/>
              </a:ext>
            </a:extLst>
          </p:cNvPr>
          <p:cNvSpPr/>
          <p:nvPr/>
        </p:nvSpPr>
        <p:spPr>
          <a:xfrm>
            <a:off x="1044389" y="2038381"/>
            <a:ext cx="10119360" cy="77595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sz="2300" b="1" dirty="0">
                <a:solidFill>
                  <a:schemeClr val="tx1"/>
                </a:solidFill>
              </a:rPr>
              <a:t>	</a:t>
            </a:r>
            <a:r>
              <a:rPr lang="pl-PL" sz="2300" b="1" dirty="0" err="1">
                <a:solidFill>
                  <a:schemeClr val="tx1"/>
                </a:solidFill>
              </a:rPr>
              <a:t>Hypothesis</a:t>
            </a:r>
            <a:r>
              <a:rPr lang="pl-PL" sz="2300" b="1" dirty="0">
                <a:solidFill>
                  <a:schemeClr val="tx1"/>
                </a:solidFill>
              </a:rPr>
              <a:t> 1: </a:t>
            </a:r>
            <a:r>
              <a:rPr lang="en-GB" sz="2300" dirty="0">
                <a:solidFill>
                  <a:schemeClr val="tx1"/>
                </a:solidFill>
              </a:rPr>
              <a:t>Task-aware knowledge graph construction improves prediction 	accuracy in node-level price movement classification.</a:t>
            </a:r>
            <a:endParaRPr lang="pl-PL" sz="23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F39B65-BAC0-796B-29DD-97C4F3DBBA7B}"/>
              </a:ext>
            </a:extLst>
          </p:cNvPr>
          <p:cNvSpPr/>
          <p:nvPr/>
        </p:nvSpPr>
        <p:spPr>
          <a:xfrm>
            <a:off x="1044389" y="2038381"/>
            <a:ext cx="59760" cy="775958"/>
          </a:xfrm>
          <a:prstGeom prst="rect">
            <a:avLst/>
          </a:prstGeom>
          <a:gradFill>
            <a:gsLst>
              <a:gs pos="0">
                <a:srgbClr val="8FCBDD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l-PL" sz="23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52E68-1E49-8BB6-DFE3-1D8D3B9928DC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5" name="Picture 4" descr="Strona główna | Szkolenia WNE UW">
            <a:extLst>
              <a:ext uri="{FF2B5EF4-FFF2-40B4-BE49-F238E27FC236}">
                <a16:creationId xmlns:a16="http://schemas.microsoft.com/office/drawing/2014/main" id="{E6D29553-D2D0-2726-3E91-15D1A03DE4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B15606-6601-DF11-C074-2C045CB82F5D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D8695A-A5EF-896C-B3BA-41AFE12219D7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190080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378D-3CED-9E61-A6FC-77A70A78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AC2BE91-86B1-0AF1-79AD-03E9EA40B31E}"/>
              </a:ext>
            </a:extLst>
          </p:cNvPr>
          <p:cNvSpPr txBox="1">
            <a:spLocks/>
          </p:cNvSpPr>
          <p:nvPr/>
        </p:nvSpPr>
        <p:spPr>
          <a:xfrm>
            <a:off x="2209800" y="2693988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sz="3200" b="1" dirty="0">
                <a:solidFill>
                  <a:srgbClr val="C00000"/>
                </a:solidFill>
                <a:latin typeface="Calibri"/>
              </a:rPr>
              <a:t>Preliminary </a:t>
            </a:r>
            <a:r>
              <a:rPr lang="pl-PL" sz="3200" b="1" dirty="0" err="1">
                <a:solidFill>
                  <a:srgbClr val="C00000"/>
                </a:solidFill>
                <a:latin typeface="Calibri"/>
              </a:rPr>
              <a:t>Results</a:t>
            </a:r>
            <a:endParaRPr lang="pl-PL" sz="3200" b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C6A31-8D08-BC12-427D-8666B542477C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5" name="Picture 4" descr="Strona główna | Szkolenia WNE UW">
            <a:extLst>
              <a:ext uri="{FF2B5EF4-FFF2-40B4-BE49-F238E27FC236}">
                <a16:creationId xmlns:a16="http://schemas.microsoft.com/office/drawing/2014/main" id="{E1B956AC-4507-DCB7-9E23-D60331249E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29FE08-4703-1F6C-30C0-AFC792992078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C99B2-42A4-B74B-C2E1-5DBFAC48AF26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123462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5D5A-70CD-C969-0755-EEC515758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A4BB-7704-CECB-AEEA-E67FBFB5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 err="1">
                <a:solidFill>
                  <a:srgbClr val="C00000"/>
                </a:solidFill>
              </a:rPr>
              <a:t>Example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kg_builder</a:t>
            </a:r>
            <a:r>
              <a:rPr lang="pl-PL" dirty="0">
                <a:solidFill>
                  <a:srgbClr val="C00000"/>
                </a:solidFill>
              </a:rPr>
              <a:t> run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2D06DE-F4CD-4B70-3F74-6C5E66DB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9324"/>
            <a:ext cx="7772400" cy="2040061"/>
          </a:xfrm>
          <a:prstGeom prst="rect">
            <a:avLst/>
          </a:prstGeom>
        </p:spPr>
      </p:pic>
      <p:sp>
        <p:nvSpPr>
          <p:cNvPr id="13" name="Down Arrow 12">
            <a:extLst>
              <a:ext uri="{FF2B5EF4-FFF2-40B4-BE49-F238E27FC236}">
                <a16:creationId xmlns:a16="http://schemas.microsoft.com/office/drawing/2014/main" id="{9181BCE3-614A-EAE6-3E9F-3CA9FC243D2D}"/>
              </a:ext>
            </a:extLst>
          </p:cNvPr>
          <p:cNvSpPr/>
          <p:nvPr/>
        </p:nvSpPr>
        <p:spPr>
          <a:xfrm>
            <a:off x="5759115" y="3753256"/>
            <a:ext cx="673769" cy="74114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480D10-58F1-C9CB-86FB-361BD6C6E081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8" name="Picture 7" descr="Strona główna | Szkolenia WNE UW">
            <a:extLst>
              <a:ext uri="{FF2B5EF4-FFF2-40B4-BE49-F238E27FC236}">
                <a16:creationId xmlns:a16="http://schemas.microsoft.com/office/drawing/2014/main" id="{77D95A73-7A76-0BA7-C6D5-3F84087EA2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DD67EE-216D-3C7F-08C9-270B7AC36BC3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50BB38-3928-703C-B7E6-3EAFA131192C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DE5BB-545F-3531-CC07-50C469C83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4574277"/>
            <a:ext cx="7772400" cy="16851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2DB3008-38F0-8B01-BE9B-A6632553ACC2}"/>
                  </a:ext>
                </a:extLst>
              </p14:cNvPr>
              <p14:cNvContentPartPr/>
              <p14:nvPr/>
            </p14:nvContentPartPr>
            <p14:xfrm>
              <a:off x="5985075" y="6035622"/>
              <a:ext cx="1314000" cy="19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2DB3008-38F0-8B01-BE9B-A6632553AC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9435" y="5963622"/>
                <a:ext cx="13856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024A444-9A8F-3DA9-E99F-D0F465ACCEE4}"/>
                  </a:ext>
                </a:extLst>
              </p14:cNvPr>
              <p14:cNvContentPartPr/>
              <p14:nvPr/>
            </p14:nvContentPartPr>
            <p14:xfrm>
              <a:off x="6491512" y="5287953"/>
              <a:ext cx="1314000" cy="19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024A444-9A8F-3DA9-E99F-D0F465ACCE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55872" y="5215953"/>
                <a:ext cx="1385640" cy="1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1184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D671-6DED-D48A-285C-EE38AB7E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CA4A-91B9-493A-FD44-5F06AE9D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>
                <a:solidFill>
                  <a:srgbClr val="C00000"/>
                </a:solidFill>
              </a:rPr>
              <a:t>Knowledge </a:t>
            </a:r>
            <a:r>
              <a:rPr lang="pl-PL" dirty="0" err="1">
                <a:solidFill>
                  <a:srgbClr val="C00000"/>
                </a:solidFill>
              </a:rPr>
              <a:t>Graph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Growth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50B220-44F5-5F1F-FCC4-0DDA14F31EDB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4" name="Picture 13" descr="Strona główna | Szkolenia WNE UW">
            <a:extLst>
              <a:ext uri="{FF2B5EF4-FFF2-40B4-BE49-F238E27FC236}">
                <a16:creationId xmlns:a16="http://schemas.microsoft.com/office/drawing/2014/main" id="{6686D0BF-6F54-FE5C-D906-A9BB264870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F86B7A4-B6F8-0648-4035-1ABB6E8979F0}"/>
              </a:ext>
            </a:extLst>
          </p:cNvPr>
          <p:cNvGrpSpPr/>
          <p:nvPr/>
        </p:nvGrpSpPr>
        <p:grpSpPr>
          <a:xfrm>
            <a:off x="1283986" y="1417638"/>
            <a:ext cx="9624027" cy="4989317"/>
            <a:chOff x="1750217" y="1780150"/>
            <a:chExt cx="8691567" cy="42908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4E6BAD-0320-B5F7-074A-8F1998A84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1050" y="1780150"/>
              <a:ext cx="4196330" cy="200303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347B6D5-3372-142E-BDD1-1C22DA9B4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7183" y="3993021"/>
              <a:ext cx="4184601" cy="200303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40C518-E256-D406-9404-0773BFBBD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9047" y="1780151"/>
              <a:ext cx="4192737" cy="200303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07408B2-02FA-2726-2351-88938B8ABA6B}"/>
                </a:ext>
              </a:extLst>
            </p:cNvPr>
            <p:cNvSpPr/>
            <p:nvPr/>
          </p:nvSpPr>
          <p:spPr>
            <a:xfrm>
              <a:off x="1750217" y="3630510"/>
              <a:ext cx="243840" cy="21771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0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2AF95B7-7E67-8C41-23CE-A8A6217B8D53}"/>
                </a:ext>
              </a:extLst>
            </p:cNvPr>
            <p:cNvSpPr/>
            <p:nvPr/>
          </p:nvSpPr>
          <p:spPr>
            <a:xfrm>
              <a:off x="6163894" y="5853271"/>
              <a:ext cx="243840" cy="21771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F26451-5F61-A9D7-BBED-36D859A71DAA}"/>
                </a:ext>
              </a:extLst>
            </p:cNvPr>
            <p:cNvSpPr/>
            <p:nvPr/>
          </p:nvSpPr>
          <p:spPr>
            <a:xfrm>
              <a:off x="6135262" y="3630510"/>
              <a:ext cx="243840" cy="21771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1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7340F4-1673-FA43-BE24-E3D5C782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66731" y="3993022"/>
              <a:ext cx="4196330" cy="200834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384D967-E682-5EB5-18EB-C58D66D6511C}"/>
                </a:ext>
              </a:extLst>
            </p:cNvPr>
            <p:cNvSpPr/>
            <p:nvPr/>
          </p:nvSpPr>
          <p:spPr>
            <a:xfrm>
              <a:off x="1765898" y="5849169"/>
              <a:ext cx="243840" cy="21771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400" dirty="0"/>
                <a:t>2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C0C4628-BFBF-4584-E938-7CC6A3E8C832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9D14A5-29A4-E228-9687-EF663EC0E4BB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422453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F665-A797-E32A-2871-70DE8A27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B199-2AEF-D6E8-E9F9-8EC56EE1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/>
              <a:t>2 hops from </a:t>
            </a:r>
            <a:r>
              <a:rPr lang="pl-PL" dirty="0" err="1"/>
              <a:t>example</a:t>
            </a:r>
            <a:r>
              <a:rPr lang="pl-PL" dirty="0"/>
              <a:t> </a:t>
            </a:r>
            <a:r>
              <a:rPr lang="pl-PL" dirty="0" err="1"/>
              <a:t>article</a:t>
            </a:r>
            <a:r>
              <a:rPr lang="pl-PL" dirty="0"/>
              <a:t>…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222CBB-5428-53CB-5E86-25DB7F273819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FC6CC98B-7471-C095-AEC4-38EADA366A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EDEA6E-1827-3DCE-BAFB-5F1A59F02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097" y="1786445"/>
            <a:ext cx="8883805" cy="42547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986EA8-A4F2-3B06-ECB9-7959AE5E6E96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328AC-AD1B-11F3-E98C-59A2F151FCB0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191600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0FB9-78F9-0707-C4C8-E6D84FC1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5F8A-82C4-60F8-A894-4FA6F5F5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46434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en-GB" sz="4000" b="1" dirty="0">
                <a:solidFill>
                  <a:srgbClr val="C00000"/>
                </a:solidFill>
                <a:latin typeface="Calibri" panose="020F0502020204030204" pitchFamily="34" charset="0"/>
              </a:rPr>
              <a:t>Article Neighbourhood Illustrated as Pathways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DD6EC1-728A-0DEB-B117-B95291E18BCA}"/>
              </a:ext>
            </a:extLst>
          </p:cNvPr>
          <p:cNvGrpSpPr/>
          <p:nvPr/>
        </p:nvGrpSpPr>
        <p:grpSpPr>
          <a:xfrm>
            <a:off x="2705361" y="2821783"/>
            <a:ext cx="6781278" cy="3582987"/>
            <a:chOff x="1297733" y="2766355"/>
            <a:chExt cx="6781278" cy="358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2ED9CE-64DC-DC34-93CB-CA8B13DBE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7733" y="2766355"/>
              <a:ext cx="2391397" cy="3582987"/>
            </a:xfrm>
            <a:prstGeom prst="rect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BFE8A61-A204-B527-1420-242CEAE9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1218" y="2766355"/>
              <a:ext cx="1994226" cy="3582987"/>
            </a:xfrm>
            <a:prstGeom prst="rect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C3ADE38-1742-327E-36B4-22614EF2D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27532" y="2766355"/>
              <a:ext cx="1951479" cy="2509045"/>
            </a:xfrm>
            <a:prstGeom prst="rect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</a:ln>
          </p:spPr>
        </p:pic>
      </p:grp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81C1DD-4C6B-5D4A-BE59-98B321AE2DA1}"/>
              </a:ext>
            </a:extLst>
          </p:cNvPr>
          <p:cNvSpPr/>
          <p:nvPr/>
        </p:nvSpPr>
        <p:spPr>
          <a:xfrm>
            <a:off x="5438775" y="1844675"/>
            <a:ext cx="1314450" cy="4000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/>
              <a:t>Article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B605AE-8861-D0FA-1134-CC392DFF0716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flipH="1">
            <a:off x="3901060" y="2244726"/>
            <a:ext cx="2194940" cy="57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4A282B-BF6A-296C-DEBD-994E4CBD743A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>
            <a:off x="6096000" y="2244726"/>
            <a:ext cx="2414900" cy="57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507388-1630-B188-5998-793CF17E86F9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6096001" y="2244726"/>
            <a:ext cx="219959" cy="577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E455A5-B492-32DE-2AF9-CE9CA44AD18C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699AE-1823-726E-FE87-971CCFF3462A}"/>
              </a:ext>
            </a:extLst>
          </p:cNvPr>
          <p:cNvSpPr/>
          <p:nvPr/>
        </p:nvSpPr>
        <p:spPr>
          <a:xfrm>
            <a:off x="0" y="652157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1DEBF-0FAF-BA75-599F-1EC79241E97A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  <p:pic>
        <p:nvPicPr>
          <p:cNvPr id="9" name="Picture 8" descr="Strona główna | Szkolenia WNE UW">
            <a:extLst>
              <a:ext uri="{FF2B5EF4-FFF2-40B4-BE49-F238E27FC236}">
                <a16:creationId xmlns:a16="http://schemas.microsoft.com/office/drawing/2014/main" id="{1BD2BF73-6722-636E-E70B-9FC021BC31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5776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062D1-80C6-26A5-504C-CADD8A76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60442DD-7746-D22B-CD42-183A1B8F8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40A47739-6007-F082-6185-52A3E2C5F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16D0C978-D0F6-7FCD-00A6-146D1C8D4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6D68A4-14E3-576B-7CE6-756DE221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pl-PL" dirty="0" err="1">
                <a:solidFill>
                  <a:srgbClr val="C00000"/>
                </a:solidFill>
              </a:rPr>
              <a:t>Research</a:t>
            </a:r>
            <a:r>
              <a:rPr lang="pl-PL" dirty="0">
                <a:solidFill>
                  <a:srgbClr val="C00000"/>
                </a:solidFill>
              </a:rPr>
              <a:t> Expansion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D9B4A-1CA1-BA4E-69B3-4CE8A893CFBD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AC858-58D2-9A50-BC20-6645FB8E6580}"/>
              </a:ext>
            </a:extLst>
          </p:cNvPr>
          <p:cNvSpPr/>
          <p:nvPr/>
        </p:nvSpPr>
        <p:spPr>
          <a:xfrm>
            <a:off x="0" y="652157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12ECF-18F2-76AF-A2DF-2F593C8C6BFF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121824C2-4A7F-C257-394B-4159D42F02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90198B-5EBA-51EB-F060-D71AEF57E785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Increasing diversity of paths 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Explainability; how to track down the reason for performance improvement/degradation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Implementing test split (tricky in this scenario)</a:t>
            </a: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Scaling idea to cloud env with more data and more </a:t>
            </a:r>
            <a:r>
              <a:rPr lang="en-GB" sz="2800" dirty="0" err="1"/>
              <a:t>hparams</a:t>
            </a:r>
            <a:endParaRPr lang="en-GB" sz="28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min_count</a:t>
            </a:r>
            <a:endParaRPr lang="en-GB" sz="20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max_count</a:t>
            </a:r>
            <a:endParaRPr lang="en-GB" sz="2000" dirty="0"/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000" dirty="0" err="1"/>
              <a:t>lookback_days</a:t>
            </a:r>
            <a:endParaRPr lang="en-GB" sz="20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Connecting with </a:t>
            </a:r>
            <a:r>
              <a:rPr lang="en-GB" sz="2800" dirty="0" err="1"/>
              <a:t>KGrEaT</a:t>
            </a: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4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40452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35B13-43AE-1C77-AB44-F42ABA03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4655C164-20B8-2DA7-1411-89863C740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47FB7CE0-D439-FDE3-11E1-51B2D5B37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9A2459FB-E3F7-74F8-365C-D66894DAB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EC264B-1812-D81E-89DA-6ECCCD5F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dirty="0">
                <a:solidFill>
                  <a:srgbClr val="C00000"/>
                </a:solidFill>
              </a:rPr>
              <a:t>Expected Contribution</a:t>
            </a:r>
            <a:r>
              <a:rPr lang="pl-PL" dirty="0">
                <a:solidFill>
                  <a:srgbClr val="C00000"/>
                </a:solidFill>
              </a:rPr>
              <a:t>s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1026" name="Picture 2" descr="Open hands - Free cultures icons">
            <a:extLst>
              <a:ext uri="{FF2B5EF4-FFF2-40B4-BE49-F238E27FC236}">
                <a16:creationId xmlns:a16="http://schemas.microsoft.com/office/drawing/2014/main" id="{1BDAF867-6FBD-8EB3-4BB3-5227E4DBD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561" y="5159780"/>
            <a:ext cx="892877" cy="8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29FF9E-8538-95AB-6136-97119A707757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2849B4-876A-115B-58C1-9DFF81623B34}"/>
              </a:ext>
            </a:extLst>
          </p:cNvPr>
          <p:cNvSpPr txBox="1">
            <a:spLocks/>
          </p:cNvSpPr>
          <p:nvPr/>
        </p:nvSpPr>
        <p:spPr>
          <a:xfrm>
            <a:off x="1049766" y="1472166"/>
            <a:ext cx="1011936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Unified framework and library for adaptive LLM-based KG construction enabling:</a:t>
            </a:r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Ontology optimization via supervision</a:t>
            </a:r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400" dirty="0"/>
              <a:t>Smaller, more informative graphs.</a:t>
            </a:r>
          </a:p>
          <a:p>
            <a:pPr lvl="1">
              <a:defRPr sz="2400">
                <a:solidFill>
                  <a:srgbClr val="282828"/>
                </a:solidFill>
                <a:latin typeface="Calibri"/>
              </a:defRPr>
            </a:pPr>
            <a:endParaRPr lang="en-GB" sz="2400" dirty="0"/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Direct applications in finance and more (link prediction, fraud detection, regression, classification)</a:t>
            </a:r>
          </a:p>
          <a:p>
            <a:pPr marL="0" indent="0">
              <a:buNone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GB" sz="2800" dirty="0"/>
              <a:t>  </a:t>
            </a:r>
          </a:p>
          <a:p>
            <a:pPr marL="0" indent="0">
              <a:buNone/>
              <a:defRPr sz="2400">
                <a:solidFill>
                  <a:srgbClr val="282828"/>
                </a:solidFill>
                <a:latin typeface="Calibri"/>
              </a:defRPr>
            </a:pPr>
            <a:endParaRPr lang="en-GB" sz="2800" dirty="0"/>
          </a:p>
        </p:txBody>
      </p:sp>
      <p:pic>
        <p:nvPicPr>
          <p:cNvPr id="7" name="Picture 6" descr="Strona główna | Szkolenia WNE UW">
            <a:extLst>
              <a:ext uri="{FF2B5EF4-FFF2-40B4-BE49-F238E27FC236}">
                <a16:creationId xmlns:a16="http://schemas.microsoft.com/office/drawing/2014/main" id="{BC3E967F-72EC-D1AD-947A-60461B099E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B129F1-8876-D8FD-AB1B-2026E4775677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1D5572-7446-FE82-A9A4-9524270E9D31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444812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34CA4-D808-089B-2D90-A163638D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479E07EB-AEAB-F23A-7346-8E114DF76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233" y="6737719"/>
            <a:ext cx="9155399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264A405-94B1-94D8-4E0F-9A3A65C86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6CBA04CC-29A8-EDF9-CB82-7DB8977CE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CA4D59B-170C-6481-0348-33FA8CA4DF13}"/>
              </a:ext>
            </a:extLst>
          </p:cNvPr>
          <p:cNvSpPr txBox="1">
            <a:spLocks/>
          </p:cNvSpPr>
          <p:nvPr/>
        </p:nvSpPr>
        <p:spPr>
          <a:xfrm>
            <a:off x="2209800" y="269398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 b="1">
                <a:solidFill>
                  <a:srgbClr val="14285A"/>
                </a:solidFill>
                <a:latin typeface="Calibri"/>
              </a:defRPr>
            </a:pPr>
            <a:r>
              <a:rPr lang="en-GB" sz="4000" dirty="0">
                <a:solidFill>
                  <a:srgbClr val="C00000"/>
                </a:solidFill>
              </a:rPr>
              <a:t>Thank you!</a:t>
            </a:r>
            <a:endParaRPr lang="pl-PL" sz="4000" b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DE1BDF-EAA9-B68B-5937-240A624DCB96}"/>
              </a:ext>
            </a:extLst>
          </p:cNvPr>
          <p:cNvSpPr/>
          <p:nvPr/>
        </p:nvSpPr>
        <p:spPr>
          <a:xfrm>
            <a:off x="0" y="6683191"/>
            <a:ext cx="12192000" cy="174810"/>
          </a:xfrm>
          <a:prstGeom prst="rect">
            <a:avLst/>
          </a:prstGeom>
          <a:gradFill>
            <a:gsLst>
              <a:gs pos="0">
                <a:srgbClr val="C05250"/>
              </a:gs>
              <a:gs pos="100000">
                <a:srgbClr val="8FCBDD"/>
              </a:gs>
            </a:gsLst>
            <a:lin ang="16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5" name="Picture 4" descr="Strona główna | Szkolenia WNE UW">
            <a:extLst>
              <a:ext uri="{FF2B5EF4-FFF2-40B4-BE49-F238E27FC236}">
                <a16:creationId xmlns:a16="http://schemas.microsoft.com/office/drawing/2014/main" id="{4574FBC1-0945-199C-F0AB-059741EED9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4" t="14432" r="15804" b="49293"/>
          <a:stretch>
            <a:fillRect/>
          </a:stretch>
        </p:blipFill>
        <p:spPr bwMode="auto">
          <a:xfrm>
            <a:off x="0" y="5556815"/>
            <a:ext cx="1981200" cy="95915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FEAA75-12E9-E6F0-C39A-444EDBC1FD1C}"/>
              </a:ext>
            </a:extLst>
          </p:cNvPr>
          <p:cNvSpPr/>
          <p:nvPr/>
        </p:nvSpPr>
        <p:spPr>
          <a:xfrm>
            <a:off x="0" y="6523441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Ontology as a hyperparameter: Task-aware knowledge graph construction using LLMs 13th April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96D0CC-81E6-DBE4-ECA7-22F7015A0C50}"/>
              </a:ext>
            </a:extLst>
          </p:cNvPr>
          <p:cNvSpPr/>
          <p:nvPr/>
        </p:nvSpPr>
        <p:spPr>
          <a:xfrm>
            <a:off x="0" y="-25390"/>
            <a:ext cx="12192000" cy="336431"/>
          </a:xfrm>
          <a:prstGeom prst="rect">
            <a:avLst/>
          </a:prstGeom>
          <a:solidFill>
            <a:srgbClr val="D3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L" dirty="0">
                <a:solidFill>
                  <a:schemeClr val="tx1"/>
                </a:solidFill>
              </a:rPr>
              <a:t>Monthly joint seminar of QFRG and DSLab, University of Warsaw, Faculty of Economic Sciences</a:t>
            </a:r>
          </a:p>
        </p:txBody>
      </p:sp>
    </p:spTree>
    <p:extLst>
      <p:ext uri="{BB962C8B-B14F-4D97-AF65-F5344CB8AC3E}">
        <p14:creationId xmlns:p14="http://schemas.microsoft.com/office/powerpoint/2010/main" val="200942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6836</TotalTime>
  <Words>2712</Words>
  <Application>Microsoft Macintosh PowerPoint</Application>
  <PresentationFormat>Widescreen</PresentationFormat>
  <Paragraphs>256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Agenda</vt:lpstr>
      <vt:lpstr>History Textbook Example</vt:lpstr>
      <vt:lpstr>History Textbook Example</vt:lpstr>
      <vt:lpstr>PowerPoint Presentation</vt:lpstr>
      <vt:lpstr>Motivation</vt:lpstr>
      <vt:lpstr>Related Work &amp; Positioning</vt:lpstr>
      <vt:lpstr>Core Idea</vt:lpstr>
      <vt:lpstr>Application: Task-aware KG based on Financial News</vt:lpstr>
      <vt:lpstr>Detailed Processing Pipeline</vt:lpstr>
      <vt:lpstr>Research Hypotheses</vt:lpstr>
      <vt:lpstr>PowerPoint Presentation</vt:lpstr>
      <vt:lpstr>Example kg_builder run</vt:lpstr>
      <vt:lpstr>Knowledge Graph Growth</vt:lpstr>
      <vt:lpstr>2 hops from example article…</vt:lpstr>
      <vt:lpstr>Article Neighbourhood Illustrated as Pathways</vt:lpstr>
      <vt:lpstr>Research Expansion</vt:lpstr>
      <vt:lpstr>Expected Contributions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/>
  <cp:keywords/>
  <dc:description>generated using python-pptx</dc:description>
  <cp:lastModifiedBy>Jan Frąckowiak</cp:lastModifiedBy>
  <cp:revision>67</cp:revision>
  <dcterms:created xsi:type="dcterms:W3CDTF">2013-01-27T09:14:16Z</dcterms:created>
  <dcterms:modified xsi:type="dcterms:W3CDTF">2026-04-13T09:16:38Z</dcterms:modified>
  <cp:category/>
</cp:coreProperties>
</file>